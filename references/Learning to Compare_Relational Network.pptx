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1"/>
  </p:notesMasterIdLst>
  <p:handoutMasterIdLst>
    <p:handoutMasterId r:id="rId22"/>
  </p:handoutMasterIdLst>
  <p:sldIdLst>
    <p:sldId id="256" r:id="rId5"/>
    <p:sldId id="257" r:id="rId6"/>
    <p:sldId id="258" r:id="rId7"/>
    <p:sldId id="262" r:id="rId8"/>
    <p:sldId id="272" r:id="rId9"/>
    <p:sldId id="273" r:id="rId10"/>
    <p:sldId id="265" r:id="rId11"/>
    <p:sldId id="274" r:id="rId12"/>
    <p:sldId id="275" r:id="rId13"/>
    <p:sldId id="276" r:id="rId14"/>
    <p:sldId id="277" r:id="rId15"/>
    <p:sldId id="278" r:id="rId16"/>
    <p:sldId id="269" r:id="rId17"/>
    <p:sldId id="260" r:id="rId18"/>
    <p:sldId id="279" r:id="rId19"/>
    <p:sldId id="280"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898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0" autoAdjust="0"/>
    <p:restoredTop sz="90655" autoAdjust="0"/>
  </p:normalViewPr>
  <p:slideViewPr>
    <p:cSldViewPr snapToGrid="0">
      <p:cViewPr varScale="1">
        <p:scale>
          <a:sx n="116" d="100"/>
          <a:sy n="116" d="100"/>
        </p:scale>
        <p:origin x="108" y="324"/>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p:scale>
          <a:sx n="1" d="2"/>
          <a:sy n="1" d="2"/>
        </p:scale>
        <p:origin x="3403" y="48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7F456E-01A6-4013-ACA5-F5492591A2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84983A3-9B9B-4D61-97C9-B9E239A315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56F32FC-4BD9-442A-A8C6-51598C909FE3}" type="datetimeFigureOut">
              <a:rPr lang="en-US" smtClean="0"/>
              <a:t>12-Oct-23</a:t>
            </a:fld>
            <a:endParaRPr lang="en-US" dirty="0"/>
          </a:p>
        </p:txBody>
      </p:sp>
      <p:sp>
        <p:nvSpPr>
          <p:cNvPr id="4" name="Footer Placeholder 3">
            <a:extLst>
              <a:ext uri="{FF2B5EF4-FFF2-40B4-BE49-F238E27FC236}">
                <a16:creationId xmlns:a16="http://schemas.microsoft.com/office/drawing/2014/main" id="{5EEABE74-7A97-4D17-8390-42ADD25C3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42C1DBD-1052-425E-BF3C-983304BED5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EEFA9E-C190-4F5C-8394-BD5F1CD55C02}" type="slidenum">
              <a:rPr lang="en-US" smtClean="0"/>
              <a:t>‹#›</a:t>
            </a:fld>
            <a:endParaRPr lang="en-US" dirty="0"/>
          </a:p>
        </p:txBody>
      </p:sp>
    </p:spTree>
    <p:extLst>
      <p:ext uri="{BB962C8B-B14F-4D97-AF65-F5344CB8AC3E}">
        <p14:creationId xmlns:p14="http://schemas.microsoft.com/office/powerpoint/2010/main" val="23248019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6371FA-A98D-41E8-93F4-09945841298A}" type="datetimeFigureOut">
              <a:rPr lang="en-US" smtClean="0"/>
              <a:t>12-Oct-23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289C57-55D7-40A4-A101-E74FAC7A092B}" type="slidenum">
              <a:rPr lang="en-US" smtClean="0"/>
              <a:t>‹#›</a:t>
            </a:fld>
            <a:endParaRPr lang="en-US" dirty="0"/>
          </a:p>
        </p:txBody>
      </p:sp>
    </p:spTree>
    <p:extLst>
      <p:ext uri="{BB962C8B-B14F-4D97-AF65-F5344CB8AC3E}">
        <p14:creationId xmlns:p14="http://schemas.microsoft.com/office/powerpoint/2010/main" val="2839902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a:t>
            </a:fld>
            <a:endParaRPr lang="en-US" dirty="0"/>
          </a:p>
        </p:txBody>
      </p:sp>
    </p:spTree>
    <p:extLst>
      <p:ext uri="{BB962C8B-B14F-4D97-AF65-F5344CB8AC3E}">
        <p14:creationId xmlns:p14="http://schemas.microsoft.com/office/powerpoint/2010/main" val="142053992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3429000"/>
            <a:ext cx="4941771" cy="2128042"/>
          </a:xfrm>
        </p:spPr>
        <p:txBody>
          <a:bodyPr anchor="b">
            <a:noAutofit/>
          </a:bodyPr>
          <a:lstStyle>
            <a:lvl1pPr algn="l">
              <a:defRPr sz="3600" spc="150" baseline="0"/>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anchor="ctr" anchorCtr="0">
            <a:noAutofit/>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8" name="Graphic 7">
            <a:extLst>
              <a:ext uri="{FF2B5EF4-FFF2-40B4-BE49-F238E27FC236}">
                <a16:creationId xmlns:a16="http://schemas.microsoft.com/office/drawing/2014/main" id="{A04F1E16-9A84-4D0E-9706-79C396AF6AE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1776826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tx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500" y="291403"/>
            <a:ext cx="2895600" cy="2054606"/>
          </a:xfrm>
        </p:spPr>
        <p:txBody>
          <a:bodyPr anchor="b">
            <a:noAutofit/>
          </a:bodyPr>
          <a:lstStyle>
            <a:lvl1pPr>
              <a:defRPr sz="2800" spc="150" baseline="0">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500" y="2924175"/>
            <a:ext cx="2895600" cy="2519363"/>
          </a:xfrm>
        </p:spPr>
        <p:txBody>
          <a:bodyPr>
            <a:normAutofit/>
          </a:bodyPr>
          <a:lstStyle>
            <a:lvl1pPr marL="0" indent="0">
              <a:lnSpc>
                <a:spcPct val="150000"/>
              </a:lnSpc>
              <a:buNone/>
              <a:defRPr sz="1400">
                <a:solidFill>
                  <a:schemeClr val="bg1"/>
                </a:solidFill>
              </a:defRPr>
            </a:lvl1pPr>
            <a:lvl2pPr marL="457200" indent="0">
              <a:lnSpc>
                <a:spcPct val="150000"/>
              </a:lnSpc>
              <a:buNone/>
              <a:defRPr sz="1400">
                <a:solidFill>
                  <a:schemeClr val="bg1"/>
                </a:solidFill>
              </a:defRPr>
            </a:lvl2pPr>
            <a:lvl3pPr marL="914400" indent="0">
              <a:lnSpc>
                <a:spcPct val="150000"/>
              </a:lnSpc>
              <a:buNone/>
              <a:defRPr sz="1400">
                <a:solidFill>
                  <a:schemeClr val="bg1"/>
                </a:solidFill>
              </a:defRPr>
            </a:lvl3pPr>
            <a:lvl4pPr marL="1371600" indent="0">
              <a:lnSpc>
                <a:spcPct val="150000"/>
              </a:lnSpc>
              <a:buNone/>
              <a:defRPr sz="1400">
                <a:solidFill>
                  <a:schemeClr val="bg1"/>
                </a:solidFill>
              </a:defRPr>
            </a:lvl4pPr>
            <a:lvl5pPr marL="1828800" indent="0">
              <a:lnSpc>
                <a:spcPct val="150000"/>
              </a:lnSpc>
              <a:buNone/>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a:lstStyle>
            <a:lvl1pPr>
              <a:defRPr sz="900"/>
            </a:lvl1pPr>
          </a:lstStyle>
          <a:p>
            <a:r>
              <a:rPr lang="en-US" dirty="0"/>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a:lstStyle>
            <a:lvl1pPr>
              <a:defRPr sz="900"/>
            </a:lvl1pPr>
          </a:lstStyle>
          <a:p>
            <a:r>
              <a:rPr lang="en-US" dirty="0"/>
              <a:t>PRESENTATION TITLE</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982124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roduction">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D7A1CF8B-3479-49A3-A30E-2F2ECE962075}"/>
              </a:ext>
              <a:ext uri="{C183D7F6-B498-43B3-948B-1728B52AA6E4}">
                <adec:decorative xmlns:adec="http://schemas.microsoft.com/office/drawing/2017/decorative" val="1"/>
              </a:ext>
            </a:extLst>
          </p:cNvPr>
          <p:cNvGrpSpPr/>
          <p:nvPr userDrawn="1"/>
        </p:nvGrpSpPr>
        <p:grpSpPr>
          <a:xfrm>
            <a:off x="6953250" y="-25401"/>
            <a:ext cx="5238750" cy="6902451"/>
            <a:chOff x="6953250" y="-25401"/>
            <a:chExt cx="5238750" cy="6902451"/>
          </a:xfrm>
        </p:grpSpPr>
        <p:cxnSp>
          <p:nvCxnSpPr>
            <p:cNvPr id="14" name="Straight Connector 13">
              <a:extLst>
                <a:ext uri="{FF2B5EF4-FFF2-40B4-BE49-F238E27FC236}">
                  <a16:creationId xmlns:a16="http://schemas.microsoft.com/office/drawing/2014/main" id="{49FBD260-5143-4B12-B9F8-33E48D548909}"/>
                </a:ext>
              </a:extLst>
            </p:cNvPr>
            <p:cNvCxnSpPr/>
            <p:nvPr userDrawn="1"/>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userDrawn="1"/>
          </p:nvCxnSpPr>
          <p:spPr>
            <a:xfrm flipH="1">
              <a:off x="6953250" y="-25401"/>
              <a:ext cx="3790950" cy="6902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612949"/>
            <a:ext cx="5111750" cy="2263602"/>
          </a:xfrm>
        </p:spPr>
        <p:txBody>
          <a:bodyPr anchor="b">
            <a:no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2263602"/>
          </a:xfrm>
        </p:spPr>
        <p:txBody>
          <a:bodyPr>
            <a:normAutofit/>
          </a:bodyPr>
          <a:lstStyle>
            <a:lvl1pPr marL="0" indent="0">
              <a:lnSpc>
                <a:spcPct val="100000"/>
              </a:lnSpc>
              <a:buNone/>
              <a:defRPr sz="1400" spc="5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11EBF9-6826-475B-8079-C11128991BAE}"/>
              </a:ext>
            </a:extLst>
          </p:cNvPr>
          <p:cNvSpPr>
            <a:spLocks noGrp="1"/>
          </p:cNvSpPr>
          <p:nvPr>
            <p:ph type="dt" sz="half" idx="10"/>
          </p:nvPr>
        </p:nvSpPr>
        <p:spPr>
          <a:xfrm>
            <a:off x="838200" y="6356350"/>
            <a:ext cx="1219200" cy="365125"/>
          </a:xfrm>
        </p:spPr>
        <p:txBody>
          <a:bodyPr/>
          <a:lstStyle>
            <a:lvl1pPr>
              <a:defRPr sz="900"/>
            </a:lvl1pPr>
          </a:lstStyle>
          <a:p>
            <a:r>
              <a:rPr lang="en-US" dirty="0"/>
              <a:t>20XX</a:t>
            </a:r>
          </a:p>
        </p:txBody>
      </p:sp>
      <p:sp>
        <p:nvSpPr>
          <p:cNvPr id="5" name="Footer Placeholder 4">
            <a:extLst>
              <a:ext uri="{FF2B5EF4-FFF2-40B4-BE49-F238E27FC236}">
                <a16:creationId xmlns:a16="http://schemas.microsoft.com/office/drawing/2014/main" id="{3FB726A3-DF54-47D2-8C3A-34FD43A19E8E}"/>
              </a:ext>
            </a:extLst>
          </p:cNvPr>
          <p:cNvSpPr>
            <a:spLocks noGrp="1"/>
          </p:cNvSpPr>
          <p:nvPr>
            <p:ph type="ftr" sz="quarter" idx="11"/>
          </p:nvPr>
        </p:nvSpPr>
        <p:spPr>
          <a:xfrm>
            <a:off x="2463800" y="6356350"/>
            <a:ext cx="3479800" cy="365125"/>
          </a:xfrm>
        </p:spPr>
        <p:txBody>
          <a:bodyPr/>
          <a:lstStyle>
            <a:lvl1pPr>
              <a:defRPr sz="900"/>
            </a:lvl1pPr>
          </a:lstStyle>
          <a:p>
            <a:r>
              <a:rPr lang="en-US" dirty="0"/>
              <a:t>PRESENTATION TITLE</a:t>
            </a:r>
          </a:p>
        </p:txBody>
      </p:sp>
      <p:sp>
        <p:nvSpPr>
          <p:cNvPr id="6" name="Slide Number Placeholder 5">
            <a:extLst>
              <a:ext uri="{FF2B5EF4-FFF2-40B4-BE49-F238E27FC236}">
                <a16:creationId xmlns:a16="http://schemas.microsoft.com/office/drawing/2014/main" id="{D0CD125A-4493-4967-9146-841D0EF3BC63}"/>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4249735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Section Break">
    <p:bg>
      <p:bgPr>
        <a:solidFill>
          <a:schemeClr val="tx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F05D2CCB-CCFC-4A8A-ADA9-C1E4D13B968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522514"/>
            <a:ext cx="4179570" cy="3341857"/>
          </a:xfrm>
        </p:spPr>
        <p:txBody>
          <a:bodyPr anchor="b">
            <a:noAutofit/>
          </a:bodyPr>
          <a:lstStyle>
            <a:lvl1pPr algn="l">
              <a:defRPr sz="3600" spc="150" baseline="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991350" y="3931859"/>
            <a:ext cx="4179570" cy="365125"/>
          </a:xfrm>
        </p:spPr>
        <p:txBody>
          <a:bodyPr anchor="ctr" anchorCtr="0">
            <a:noAutofit/>
          </a:bodyPr>
          <a:lstStyle>
            <a:lvl1pPr marL="0" indent="0" algn="l">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699512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7" name="Chart Placeholder 6">
            <a:extLst>
              <a:ext uri="{FF2B5EF4-FFF2-40B4-BE49-F238E27FC236}">
                <a16:creationId xmlns:a16="http://schemas.microsoft.com/office/drawing/2014/main" id="{08AF2DB4-A973-4307-B59C-6058A138835C}"/>
              </a:ext>
            </a:extLst>
          </p:cNvPr>
          <p:cNvSpPr>
            <a:spLocks noGrp="1"/>
          </p:cNvSpPr>
          <p:nvPr>
            <p:ph type="chart" sz="quarter" idx="13"/>
          </p:nvPr>
        </p:nvSpPr>
        <p:spPr>
          <a:xfrm>
            <a:off x="838200" y="2111608"/>
            <a:ext cx="10515600" cy="3744912"/>
          </a:xfrm>
        </p:spPr>
        <p:txBody>
          <a:bodyPr/>
          <a:lstStyle/>
          <a:p>
            <a:r>
              <a:rPr lang="en-US"/>
              <a:t>Click icon to add chart</a:t>
            </a:r>
            <a:endParaRPr lang="en-US" dirty="0"/>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PRESENTATION TITLE</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14852777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838200" y="2111381"/>
            <a:ext cx="10515600" cy="3744913"/>
          </a:xfrm>
        </p:spPr>
        <p:txBody>
          <a:bodyPr/>
          <a:lstStyle/>
          <a:p>
            <a:r>
              <a:rPr lang="en-US"/>
              <a:t>Click icon to add table</a:t>
            </a:r>
            <a:endParaRPr lang="en-US" dirty="0"/>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PRESENTATION TITLE</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3370680036"/>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cxnSp>
        <p:nvCxnSpPr>
          <p:cNvPr id="9" name="Straight Connector 8">
            <a:extLst>
              <a:ext uri="{FF2B5EF4-FFF2-40B4-BE49-F238E27FC236}">
                <a16:creationId xmlns:a16="http://schemas.microsoft.com/office/drawing/2014/main" id="{BDAC7E4E-FE06-4E90-8107-6B543E5515ED}"/>
              </a:ext>
              <a:ext uri="{C183D7F6-B498-43B3-948B-1728B52AA6E4}">
                <adec:decorative xmlns:adec="http://schemas.microsoft.com/office/drawing/2017/decorative" val="1"/>
              </a:ext>
            </a:extLst>
          </p:cNvPr>
          <p:cNvCxnSpPr/>
          <p:nvPr userDrawn="1"/>
        </p:nvCxnSpPr>
        <p:spPr>
          <a:xfrm flipV="1">
            <a:off x="2209800" y="0"/>
            <a:ext cx="243840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4657724" y="2809875"/>
            <a:ext cx="6696075" cy="1909763"/>
          </a:xfrm>
        </p:spPr>
        <p:txBody>
          <a:bodyPr anchor="b">
            <a:no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10" name="Subtitle 2">
            <a:extLst>
              <a:ext uri="{FF2B5EF4-FFF2-40B4-BE49-F238E27FC236}">
                <a16:creationId xmlns:a16="http://schemas.microsoft.com/office/drawing/2014/main" id="{104828DA-5EC5-4A00-9A7B-CD9668EF24D1}"/>
              </a:ext>
            </a:extLst>
          </p:cNvPr>
          <p:cNvSpPr>
            <a:spLocks noGrp="1"/>
          </p:cNvSpPr>
          <p:nvPr>
            <p:ph type="subTitle" idx="1"/>
          </p:nvPr>
        </p:nvSpPr>
        <p:spPr>
          <a:xfrm>
            <a:off x="4657725" y="5028803"/>
            <a:ext cx="6696074" cy="365125"/>
          </a:xfrm>
        </p:spPr>
        <p:txBody>
          <a:bodyPr anchor="ctr" anchorCtr="0">
            <a:noAutofit/>
          </a:bodyPr>
          <a:lstStyle>
            <a:lvl1pPr marL="0" indent="0" algn="l">
              <a:buNone/>
              <a:defRPr sz="1600">
                <a:solidFill>
                  <a:schemeClr val="bg2">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3" name="Date Placeholder 2">
            <a:extLst>
              <a:ext uri="{FF2B5EF4-FFF2-40B4-BE49-F238E27FC236}">
                <a16:creationId xmlns:a16="http://schemas.microsoft.com/office/drawing/2014/main" id="{D9303E9A-96BC-4283-A6E1-5948AEB119F4}"/>
              </a:ext>
            </a:extLst>
          </p:cNvPr>
          <p:cNvSpPr>
            <a:spLocks noGrp="1"/>
          </p:cNvSpPr>
          <p:nvPr>
            <p:ph type="dt" sz="half" idx="10"/>
          </p:nvPr>
        </p:nvSpPr>
        <p:spPr>
          <a:xfrm>
            <a:off x="4676774" y="6356350"/>
            <a:ext cx="1695450" cy="365125"/>
          </a:xfrm>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45A19C49-052B-4D3E-B227-1D787463CE96}"/>
              </a:ext>
            </a:extLst>
          </p:cNvPr>
          <p:cNvSpPr>
            <a:spLocks noGrp="1"/>
          </p:cNvSpPr>
          <p:nvPr>
            <p:ph type="ftr" sz="quarter" idx="11"/>
          </p:nvPr>
        </p:nvSpPr>
        <p:spPr>
          <a:xfrm>
            <a:off x="6743699" y="6356350"/>
            <a:ext cx="2543175" cy="365125"/>
          </a:xfrm>
        </p:spPr>
        <p:txBody>
          <a:bodyPr/>
          <a:lstStyle>
            <a:lvl1pPr>
              <a:defRPr sz="900"/>
            </a:lvl1pPr>
          </a:lstStyle>
          <a:p>
            <a:r>
              <a:rPr lang="en-US" dirty="0"/>
              <a:t>PRESENTATION TITLE</a:t>
            </a:r>
          </a:p>
        </p:txBody>
      </p:sp>
      <p:sp>
        <p:nvSpPr>
          <p:cNvPr id="5" name="Slide Number Placeholder 4">
            <a:extLst>
              <a:ext uri="{FF2B5EF4-FFF2-40B4-BE49-F238E27FC236}">
                <a16:creationId xmlns:a16="http://schemas.microsoft.com/office/drawing/2014/main" id="{4E5E724A-95F0-41B6-A77E-EDD067272C27}"/>
              </a:ext>
            </a:extLst>
          </p:cNvPr>
          <p:cNvSpPr>
            <a:spLocks noGrp="1"/>
          </p:cNvSpPr>
          <p:nvPr>
            <p:ph type="sldNum" sz="quarter" idx="12"/>
          </p:nvPr>
        </p:nvSpPr>
        <p:spPr>
          <a:xfrm>
            <a:off x="9658350" y="6356350"/>
            <a:ext cx="1695450"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32030656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Slide 4 People">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73C911F2-9041-416A-B83C-F23B354E063B}"/>
              </a:ext>
              <a:ext uri="{C183D7F6-B498-43B3-948B-1728B52AA6E4}">
                <adec:decorative xmlns:adec="http://schemas.microsoft.com/office/drawing/2017/decorative" val="1"/>
              </a:ext>
            </a:extLst>
          </p:cNvPr>
          <p:cNvGrpSpPr/>
          <p:nvPr userDrawn="1"/>
        </p:nvGrpSpPr>
        <p:grpSpPr>
          <a:xfrm>
            <a:off x="7334250" y="0"/>
            <a:ext cx="4857750" cy="1724025"/>
            <a:chOff x="7334250" y="0"/>
            <a:chExt cx="4857750" cy="1724025"/>
          </a:xfrm>
        </p:grpSpPr>
        <p:cxnSp>
          <p:nvCxnSpPr>
            <p:cNvPr id="10" name="Straight Connector 9">
              <a:extLst>
                <a:ext uri="{FF2B5EF4-FFF2-40B4-BE49-F238E27FC236}">
                  <a16:creationId xmlns:a16="http://schemas.microsoft.com/office/drawing/2014/main" id="{4E4B72DA-52CB-4D39-A342-8857B4D959B2}"/>
                </a:ext>
              </a:extLst>
            </p:cNvPr>
            <p:cNvCxnSpPr/>
            <p:nvPr userDrawn="1"/>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Lst>
            </p:cNvPr>
            <p:cNvCxnSpPr>
              <a:cxnSpLocks/>
            </p:cNvCxnSpPr>
            <p:nvPr userDrawn="1"/>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228567" y="892177"/>
            <a:ext cx="9577983" cy="1325563"/>
          </a:xfrm>
        </p:spPr>
        <p:txBody>
          <a:bodyPr>
            <a:noAutofit/>
          </a:bodyPr>
          <a:lstStyle>
            <a:lvl1pPr algn="ctr">
              <a:defRPr lang="en-US" sz="2800" kern="1200" spc="150" baseline="0" dirty="0">
                <a:solidFill>
                  <a:schemeClr val="tx1"/>
                </a:solidFill>
                <a:latin typeface="+mj-lt"/>
                <a:ea typeface="+mj-ea"/>
                <a:cs typeface="+mj-cs"/>
              </a:defRPr>
            </a:lvl1pPr>
          </a:lstStyle>
          <a:p>
            <a:r>
              <a:rPr lang="en-US" dirty="0"/>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a:normAutofit/>
          </a:bodyPr>
          <a:lstStyle>
            <a:lvl1pPr marL="0" indent="0" algn="ctr">
              <a:spcBef>
                <a:spcPts val="0"/>
              </a:spcBef>
              <a:buNone/>
              <a:defRPr sz="1400"/>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28568" y="5084524"/>
            <a:ext cx="2317707"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660747"/>
          </a:xfrm>
        </p:spPr>
        <p:txBody>
          <a:bodyPr anchor="t">
            <a:norm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a:normAutofit/>
          </a:bodyPr>
          <a:lstStyle>
            <a:lvl1pPr marL="0" indent="0" algn="ctr">
              <a:spcBef>
                <a:spcPts val="0"/>
              </a:spcBef>
              <a:buNone/>
              <a:defRPr sz="1400"/>
            </a:lvl1pPr>
          </a:lstStyle>
          <a:p>
            <a:r>
              <a:rPr lang="en-US"/>
              <a:t>Click icon to add picture</a:t>
            </a:r>
            <a:endParaRPr lang="en-US" dirty="0"/>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578300" y="5084524"/>
            <a:ext cx="2330816"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660747"/>
          </a:xfrm>
        </p:spPr>
        <p:txBody>
          <a:bodyPr anchor="t">
            <a:norm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a:normAutofit/>
          </a:bodyPr>
          <a:lstStyle>
            <a:lvl2pPr marL="0" indent="0" algn="ctr">
              <a:spcBef>
                <a:spcPts val="0"/>
              </a:spcBef>
              <a:buNone/>
              <a:defRPr sz="1400"/>
            </a:lvl2pPr>
          </a:lstStyle>
          <a:p>
            <a:pPr lvl="1"/>
            <a:r>
              <a:rPr lang="en-US"/>
              <a:t>Click icon to add picture</a:t>
            </a:r>
            <a:endParaRPr lang="en-US" dirty="0"/>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068964" y="5084524"/>
            <a:ext cx="2317707"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660747"/>
          </a:xfrm>
        </p:spPr>
        <p:txBody>
          <a:bodyPr anchor="t">
            <a:norm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a:normAutofit/>
          </a:bodyPr>
          <a:lstStyle>
            <a:lvl1pPr marL="0" indent="0" algn="ctr">
              <a:spcBef>
                <a:spcPts val="0"/>
              </a:spcBef>
              <a:buNone/>
              <a:defRPr sz="1400"/>
            </a:lvl1pPr>
          </a:lstStyle>
          <a:p>
            <a:r>
              <a:rPr lang="en-US"/>
              <a:t>Click icon to add picture</a:t>
            </a:r>
            <a:endParaRPr lang="en-US" dirty="0"/>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488845" y="5084524"/>
            <a:ext cx="2317706"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660747"/>
          </a:xfrm>
        </p:spPr>
        <p:txBody>
          <a:bodyPr anchor="t">
            <a:norm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951227852"/>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Slide 8 People">
    <p:bg>
      <p:bgPr>
        <a:solidFill>
          <a:schemeClr val="bg1"/>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187AAB93-862D-455E-9E73-3D0DAEFDEDB4}"/>
              </a:ext>
              <a:ext uri="{C183D7F6-B498-43B3-948B-1728B52AA6E4}">
                <adec:decorative xmlns:adec="http://schemas.microsoft.com/office/drawing/2017/decorative" val="1"/>
              </a:ext>
            </a:extLst>
          </p:cNvPr>
          <p:cNvGrpSpPr/>
          <p:nvPr userDrawn="1"/>
        </p:nvGrpSpPr>
        <p:grpSpPr>
          <a:xfrm>
            <a:off x="0" y="473953"/>
            <a:ext cx="12192000" cy="5621336"/>
            <a:chOff x="0" y="473953"/>
            <a:chExt cx="12192000" cy="5621336"/>
          </a:xfrm>
        </p:grpSpPr>
        <p:pic>
          <p:nvPicPr>
            <p:cNvPr id="13" name="Graphic 12">
              <a:extLst>
                <a:ext uri="{FF2B5EF4-FFF2-40B4-BE49-F238E27FC236}">
                  <a16:creationId xmlns:a16="http://schemas.microsoft.com/office/drawing/2014/main" id="{B0DFD584-E5CF-41EF-B51E-679CE22DDF9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grpSp>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500168" y="892177"/>
            <a:ext cx="9088438" cy="1135899"/>
          </a:xfrm>
        </p:spPr>
        <p:txBody>
          <a:bodyPr>
            <a:no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a:normAutofit/>
          </a:bodyPr>
          <a:lstStyle>
            <a:lvl1pPr marL="0" indent="0" algn="ctr">
              <a:lnSpc>
                <a:spcPct val="100000"/>
              </a:lnSpc>
              <a:buFont typeface="Arial" panose="020B0604020202020204" pitchFamily="34" charset="0"/>
              <a:buNone/>
              <a:defRPr sz="900">
                <a:solidFill>
                  <a:sysClr val="windowText" lastClr="000000"/>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570485"/>
            <a:ext cx="1828800" cy="202838"/>
          </a:xfrm>
        </p:spPr>
        <p:txBody>
          <a:bodyPr anchor="ctr" anchorCtr="0">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500168" y="3779603"/>
            <a:ext cx="1828800" cy="343061"/>
          </a:xfrm>
        </p:spPr>
        <p:txBody>
          <a:bodyPr anchor="t" anchorCtr="0">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a:normAutofit/>
          </a:bodyPr>
          <a:lstStyle>
            <a:lvl1pPr marL="0" indent="0" algn="ctr">
              <a:lnSpc>
                <a:spcPct val="100000"/>
              </a:lnSpc>
              <a:buNone/>
              <a:defRPr sz="900">
                <a:solidFill>
                  <a:sysClr val="windowText" lastClr="000000"/>
                </a:solidFill>
              </a:defRPr>
            </a:lvl1pPr>
          </a:lstStyle>
          <a:p>
            <a:r>
              <a:rPr lang="en-US"/>
              <a:t>Click icon to add picture</a:t>
            </a:r>
            <a:endParaRPr lang="en-US" dirty="0"/>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570485"/>
            <a:ext cx="1828800" cy="202838"/>
          </a:xfrm>
        </p:spPr>
        <p:txBody>
          <a:bodyPr anchor="ctr" anchorCtr="0">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49262" y="3779603"/>
            <a:ext cx="1828800" cy="343061"/>
          </a:xfrm>
        </p:spPr>
        <p:txBody>
          <a:bodyPr anchor="t" anchorCtr="0">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32" name="Picture Placeholder 10">
            <a:extLst>
              <a:ext uri="{FF2B5EF4-FFF2-40B4-BE49-F238E27FC236}">
                <a16:creationId xmlns:a16="http://schemas.microsoft.com/office/drawing/2014/main" id="{1938DB4D-239F-4E8E-8802-0470B0131189}"/>
              </a:ext>
            </a:extLst>
          </p:cNvPr>
          <p:cNvSpPr>
            <a:spLocks noGrp="1"/>
          </p:cNvSpPr>
          <p:nvPr>
            <p:ph type="pic" sz="quarter" idx="37"/>
          </p:nvPr>
        </p:nvSpPr>
        <p:spPr>
          <a:xfrm>
            <a:off x="6655584" y="2428875"/>
            <a:ext cx="1066800" cy="1066800"/>
          </a:xfrm>
          <a:solidFill>
            <a:schemeClr val="tx1"/>
          </a:solidFill>
        </p:spPr>
        <p:txBody>
          <a:bodyPr>
            <a:normAutofit/>
          </a:bodyPr>
          <a:lstStyle>
            <a:lvl1pPr marL="0" indent="0" algn="ctr">
              <a:lnSpc>
                <a:spcPct val="100000"/>
              </a:lnSpc>
              <a:buNone/>
              <a:defRPr sz="900">
                <a:solidFill>
                  <a:sysClr val="windowText" lastClr="000000"/>
                </a:solidFill>
              </a:defRPr>
            </a:lvl1pPr>
          </a:lstStyle>
          <a:p>
            <a:r>
              <a:rPr lang="en-US"/>
              <a:t>Click icon to add picture</a:t>
            </a:r>
            <a:endParaRPr lang="en-US" dirty="0"/>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98355" y="3570485"/>
            <a:ext cx="2105135" cy="202838"/>
          </a:xfrm>
        </p:spPr>
        <p:txBody>
          <a:bodyPr anchor="ctr" anchorCtr="0">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095999" y="3779603"/>
            <a:ext cx="2299855" cy="343061"/>
          </a:xfrm>
        </p:spPr>
        <p:txBody>
          <a:bodyPr anchor="t" anchorCtr="0">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a:normAutofit/>
          </a:bodyPr>
          <a:lstStyle>
            <a:lvl1pPr marL="0" indent="0" algn="ctr">
              <a:lnSpc>
                <a:spcPct val="100000"/>
              </a:lnSpc>
              <a:buNone/>
              <a:defRPr sz="900">
                <a:solidFill>
                  <a:sysClr val="windowText" lastClr="000000"/>
                </a:solidFill>
              </a:defRPr>
            </a:lvl1pPr>
          </a:lstStyle>
          <a:p>
            <a:r>
              <a:rPr lang="en-US"/>
              <a:t>Click icon to add picture</a:t>
            </a:r>
            <a:endParaRPr lang="en-US" dirty="0"/>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570485"/>
            <a:ext cx="1828800" cy="202838"/>
          </a:xfrm>
        </p:spPr>
        <p:txBody>
          <a:bodyPr anchor="ctr" anchorCtr="0">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4480" y="3779603"/>
            <a:ext cx="1844126" cy="343061"/>
          </a:xfrm>
        </p:spPr>
        <p:txBody>
          <a:bodyPr anchor="t" anchorCtr="0">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a:normAutofit/>
          </a:bodyPr>
          <a:lstStyle>
            <a:lvl1pPr marL="0" indent="0" algn="ctr">
              <a:lnSpc>
                <a:spcPct val="100000"/>
              </a:lnSpc>
              <a:buNone/>
              <a:defRPr sz="900">
                <a:solidFill>
                  <a:sysClr val="windowText" lastClr="000000"/>
                </a:solidFill>
              </a:defRPr>
            </a:lvl1pPr>
          </a:lstStyle>
          <a:p>
            <a:r>
              <a:rPr lang="en-US"/>
              <a:t>Click icon to add picture</a:t>
            </a:r>
            <a:endParaRPr lang="en-US" dirty="0"/>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429321"/>
            <a:ext cx="1828800" cy="202838"/>
          </a:xfrm>
        </p:spPr>
        <p:txBody>
          <a:bodyPr anchor="ctr" anchorCtr="0">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500168" y="5638439"/>
            <a:ext cx="1828800" cy="343061"/>
          </a:xfrm>
        </p:spPr>
        <p:txBody>
          <a:bodyPr anchor="t" anchorCtr="0">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a:normAutofit/>
          </a:bodyPr>
          <a:lstStyle>
            <a:lvl1pPr marL="0" indent="0" algn="ctr">
              <a:lnSpc>
                <a:spcPct val="100000"/>
              </a:lnSpc>
              <a:buNone/>
              <a:defRPr sz="900">
                <a:solidFill>
                  <a:sysClr val="windowText" lastClr="000000"/>
                </a:solidFill>
              </a:defRPr>
            </a:lvl1pPr>
          </a:lstStyle>
          <a:p>
            <a:r>
              <a:rPr lang="en-US"/>
              <a:t>Click icon to add picture</a:t>
            </a:r>
            <a:endParaRPr lang="en-US" dirty="0"/>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429321"/>
            <a:ext cx="1828800" cy="202838"/>
          </a:xfrm>
        </p:spPr>
        <p:txBody>
          <a:bodyPr anchor="ctr" anchorCtr="0">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849262" y="5638439"/>
            <a:ext cx="1828800" cy="343061"/>
          </a:xfrm>
        </p:spPr>
        <p:txBody>
          <a:bodyPr anchor="t" anchorCtr="0">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33" name="Picture Placeholder 10">
            <a:extLst>
              <a:ext uri="{FF2B5EF4-FFF2-40B4-BE49-F238E27FC236}">
                <a16:creationId xmlns:a16="http://schemas.microsoft.com/office/drawing/2014/main" id="{E029C5CA-EDDA-4BF9-9051-8B09E98EE1E2}"/>
              </a:ext>
            </a:extLst>
          </p:cNvPr>
          <p:cNvSpPr>
            <a:spLocks noGrp="1"/>
          </p:cNvSpPr>
          <p:nvPr>
            <p:ph type="pic" sz="quarter" idx="38"/>
          </p:nvPr>
        </p:nvSpPr>
        <p:spPr>
          <a:xfrm>
            <a:off x="6655584" y="4287711"/>
            <a:ext cx="1066800" cy="1066800"/>
          </a:xfrm>
          <a:solidFill>
            <a:schemeClr val="tx1"/>
          </a:solidFill>
        </p:spPr>
        <p:txBody>
          <a:bodyPr>
            <a:normAutofit/>
          </a:bodyPr>
          <a:lstStyle>
            <a:lvl1pPr marL="0" indent="0" algn="ctr">
              <a:lnSpc>
                <a:spcPct val="100000"/>
              </a:lnSpc>
              <a:buNone/>
              <a:defRPr sz="900">
                <a:solidFill>
                  <a:sysClr val="windowText" lastClr="000000"/>
                </a:solidFill>
              </a:defRPr>
            </a:lvl1pPr>
          </a:lstStyle>
          <a:p>
            <a:r>
              <a:rPr lang="en-US"/>
              <a:t>Click icon to add picture</a:t>
            </a:r>
            <a:endParaRPr lang="en-US" dirty="0"/>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429321"/>
            <a:ext cx="1828800" cy="202838"/>
          </a:xfrm>
        </p:spPr>
        <p:txBody>
          <a:bodyPr anchor="ctr" anchorCtr="0">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339926" y="5638439"/>
            <a:ext cx="1813474" cy="343061"/>
          </a:xfrm>
        </p:spPr>
        <p:txBody>
          <a:bodyPr anchor="t" anchorCtr="0">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a:normAutofit/>
          </a:bodyPr>
          <a:lstStyle>
            <a:lvl1pPr marL="0" indent="0" algn="ctr">
              <a:lnSpc>
                <a:spcPct val="100000"/>
              </a:lnSpc>
              <a:buNone/>
              <a:defRPr sz="900">
                <a:solidFill>
                  <a:sysClr val="windowText" lastClr="000000"/>
                </a:solidFill>
              </a:defRPr>
            </a:lvl1pPr>
          </a:lstStyle>
          <a:p>
            <a:r>
              <a:rPr lang="en-US"/>
              <a:t>Click icon to add picture</a:t>
            </a:r>
            <a:endParaRPr lang="en-US" dirty="0"/>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429321"/>
            <a:ext cx="1828800" cy="202838"/>
          </a:xfrm>
        </p:spPr>
        <p:txBody>
          <a:bodyPr anchor="ctr" anchorCtr="0">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744480" y="5638439"/>
            <a:ext cx="1844126" cy="343061"/>
          </a:xfrm>
        </p:spPr>
        <p:txBody>
          <a:bodyPr anchor="t" anchorCtr="0">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solidFill>
                  <a:srgbClr val="898989"/>
                </a:solidFill>
              </a:defRPr>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solidFill>
                  <a:srgbClr val="898989"/>
                </a:solidFill>
              </a:defRPr>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857120649"/>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E786F69D-D4FA-4075-A7EC-8D31A184F630}"/>
              </a:ext>
              <a:ext uri="{C183D7F6-B498-43B3-948B-1728B52AA6E4}">
                <adec:decorative xmlns:adec="http://schemas.microsoft.com/office/drawing/2017/decorative" val="1"/>
              </a:ext>
            </a:extLst>
          </p:cNvPr>
          <p:cNvGrpSpPr/>
          <p:nvPr userDrawn="1"/>
        </p:nvGrpSpPr>
        <p:grpSpPr>
          <a:xfrm>
            <a:off x="0" y="0"/>
            <a:ext cx="2590800" cy="1027906"/>
            <a:chOff x="0" y="0"/>
            <a:chExt cx="2590800" cy="1027906"/>
          </a:xfrm>
        </p:grpSpPr>
        <p:cxnSp>
          <p:nvCxnSpPr>
            <p:cNvPr id="10" name="Straight Connector 9">
              <a:extLst>
                <a:ext uri="{FF2B5EF4-FFF2-40B4-BE49-F238E27FC236}">
                  <a16:creationId xmlns:a16="http://schemas.microsoft.com/office/drawing/2014/main" id="{66988B2D-0240-4256-8268-4B9FF1E72363}"/>
                </a:ext>
              </a:extLst>
            </p:cNvPr>
            <p:cNvCxnSpPr>
              <a:cxnSpLocks/>
            </p:cNvCxnSpPr>
            <p:nvPr userDrawn="1"/>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Lst>
            </p:cNvPr>
            <p:cNvCxnSpPr>
              <a:cxnSpLocks/>
            </p:cNvCxnSpPr>
            <p:nvPr userDrawn="1"/>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Autofit/>
          </a:bodyPr>
          <a:lstStyle>
            <a:lvl1pPr algn="ctr">
              <a:defRPr lang="en-US" sz="2800" kern="1200" spc="150" baseline="0" dirty="0">
                <a:solidFill>
                  <a:schemeClr val="tx1"/>
                </a:solidFill>
                <a:latin typeface="+mj-lt"/>
                <a:ea typeface="+mj-ea"/>
                <a:cs typeface="+mj-cs"/>
              </a:defRPr>
            </a:lvl1pPr>
          </a:lstStyle>
          <a:p>
            <a:r>
              <a:rPr lang="en-US" dirty="0"/>
              <a:t>CLICK TO EDIT MASTER TITLE STYLE</a:t>
            </a:r>
          </a:p>
        </p:txBody>
      </p:sp>
      <p:sp>
        <p:nvSpPr>
          <p:cNvPr id="7" name="SmartArt Placeholder 6">
            <a:extLst>
              <a:ext uri="{FF2B5EF4-FFF2-40B4-BE49-F238E27FC236}">
                <a16:creationId xmlns:a16="http://schemas.microsoft.com/office/drawing/2014/main" id="{156CA116-0F6E-4EE9-B34F-03BA07161A7A}"/>
              </a:ext>
            </a:extLst>
          </p:cNvPr>
          <p:cNvSpPr>
            <a:spLocks noGrp="1"/>
          </p:cNvSpPr>
          <p:nvPr>
            <p:ph type="dgm" sz="quarter" idx="15"/>
          </p:nvPr>
        </p:nvSpPr>
        <p:spPr>
          <a:xfrm>
            <a:off x="838200" y="2111375"/>
            <a:ext cx="10515600" cy="3744913"/>
          </a:xfrm>
        </p:spPr>
        <p:txBody>
          <a:bodyPr/>
          <a:lstStyle/>
          <a:p>
            <a:r>
              <a:rPr lang="en-US"/>
              <a:t>Click icon to add SmartArt graphic</a:t>
            </a:r>
            <a:endParaRPr lang="en-US" dirty="0"/>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PRESENTATION TITLE</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68311559"/>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272533"/>
            <a:ext cx="4296508" cy="953298"/>
          </a:xfrm>
        </p:spPr>
        <p:txBody>
          <a:bodyPr>
            <a:noAutofit/>
          </a:bodyPr>
          <a:lstStyle>
            <a:lvl1pPr>
              <a:defRPr lang="en-US" sz="2800" kern="1200" spc="150" baseline="0" dirty="0">
                <a:solidFill>
                  <a:schemeClr val="tx1"/>
                </a:solidFill>
                <a:latin typeface="+mj-lt"/>
                <a:ea typeface="+mj-ea"/>
                <a:cs typeface="+mj-cs"/>
              </a:defRPr>
            </a:lvl1pPr>
          </a:lstStyle>
          <a:p>
            <a:r>
              <a:rPr lang="en-US" dirty="0"/>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p:nvPr>
        </p:nvSpPr>
        <p:spPr>
          <a:xfrm>
            <a:off x="306751" y="1507772"/>
            <a:ext cx="2141764" cy="514350"/>
          </a:xfrm>
        </p:spPr>
        <p:txBody>
          <a:bodyPr anchor="ctr">
            <a:noAutofit/>
          </a:bodyPr>
          <a:lstStyle>
            <a:lvl1pPr marL="0" indent="0" algn="r">
              <a:buNone/>
              <a:defRPr sz="2000"/>
            </a:lvl1pPr>
          </a:lstStyle>
          <a:p>
            <a:pPr lvl="0"/>
            <a:r>
              <a:rPr lang="en-US"/>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p:nvPr>
        </p:nvSpPr>
        <p:spPr>
          <a:xfrm>
            <a:off x="872808" y="2584097"/>
            <a:ext cx="2141764" cy="514350"/>
          </a:xfrm>
        </p:spPr>
        <p:txBody>
          <a:bodyPr anchor="ctr">
            <a:noAutofit/>
          </a:bodyPr>
          <a:lstStyle>
            <a:lvl1pPr marL="0" indent="0" algn="r">
              <a:buNone/>
              <a:defRPr sz="2000"/>
            </a:lvl1pPr>
          </a:lstStyle>
          <a:p>
            <a:pPr lvl="0"/>
            <a:r>
              <a:rPr lang="en-US"/>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p:nvPr>
        </p:nvSpPr>
        <p:spPr>
          <a:xfrm>
            <a:off x="1479233" y="3660422"/>
            <a:ext cx="2141764" cy="514350"/>
          </a:xfrm>
        </p:spPr>
        <p:txBody>
          <a:bodyPr anchor="ctr">
            <a:noAutofit/>
          </a:bodyPr>
          <a:lstStyle>
            <a:lvl1pPr marL="0" indent="0" algn="r">
              <a:buNone/>
              <a:defRPr sz="2000"/>
            </a:lvl1pPr>
          </a:lstStyle>
          <a:p>
            <a:pPr lvl="0"/>
            <a:r>
              <a:rPr lang="en-US"/>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p:nvPr>
        </p:nvSpPr>
        <p:spPr>
          <a:xfrm>
            <a:off x="2063433" y="4736748"/>
            <a:ext cx="2141764" cy="514350"/>
          </a:xfrm>
        </p:spPr>
        <p:txBody>
          <a:bodyPr anchor="ctr">
            <a:noAutofit/>
          </a:bodyPr>
          <a:lstStyle>
            <a:lvl1pPr marL="0" indent="0" algn="r">
              <a:buNone/>
              <a:defRPr sz="2000"/>
            </a:lvl1pPr>
          </a:lstStyle>
          <a:p>
            <a:pPr lvl="0"/>
            <a:r>
              <a:rPr lang="en-US"/>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6" y="1613528"/>
            <a:ext cx="5102680" cy="1010842"/>
          </a:xfrm>
        </p:spPr>
        <p:txBody>
          <a:bodyPr anchor="t">
            <a:normAutofit/>
          </a:bodyPr>
          <a:lstStyle>
            <a:lvl1pPr marL="0" indent="0" algn="l">
              <a:lnSpc>
                <a:spcPct val="100000"/>
              </a:lnSpc>
              <a:buNone/>
              <a:defRPr sz="1400" spc="50" baseline="0"/>
            </a:lvl1pPr>
          </a:lstStyle>
          <a:p>
            <a:pPr lvl="0"/>
            <a:r>
              <a:rPr lang="en-US" dirty="0"/>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9" y="2682564"/>
            <a:ext cx="5102680" cy="1010842"/>
          </a:xfrm>
        </p:spPr>
        <p:txBody>
          <a:bodyPr anchor="t">
            <a:normAutofit/>
          </a:bodyPr>
          <a:lstStyle>
            <a:lvl1pPr marL="0" indent="0" algn="l">
              <a:lnSpc>
                <a:spcPct val="100000"/>
              </a:lnSpc>
              <a:buNone/>
              <a:defRPr sz="1400" spc="50" baseline="0"/>
            </a:lvl1pPr>
          </a:lstStyle>
          <a:p>
            <a:pPr lvl="0"/>
            <a:r>
              <a:rPr lang="en-US"/>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8" y="3755394"/>
            <a:ext cx="5102680" cy="1010842"/>
          </a:xfrm>
        </p:spPr>
        <p:txBody>
          <a:bodyPr anchor="t">
            <a:normAutofit/>
          </a:bodyPr>
          <a:lstStyle>
            <a:lvl1pPr marL="0" indent="0" algn="l">
              <a:lnSpc>
                <a:spcPct val="100000"/>
              </a:lnSpc>
              <a:buNone/>
              <a:defRPr sz="1400" spc="50" baseline="0"/>
            </a:lvl1pPr>
          </a:lstStyle>
          <a:p>
            <a:pPr lvl="0"/>
            <a:r>
              <a:rPr lang="en-US"/>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80" y="4824430"/>
            <a:ext cx="5102680" cy="1010842"/>
          </a:xfrm>
        </p:spPr>
        <p:txBody>
          <a:bodyPr anchor="t">
            <a:normAutofit/>
          </a:bodyPr>
          <a:lstStyle>
            <a:lvl1pPr marL="0" indent="0" algn="l">
              <a:lnSpc>
                <a:spcPct val="100000"/>
              </a:lnSpc>
              <a:buNone/>
              <a:defRPr sz="1400" spc="50" baseline="0"/>
            </a:lvl1pPr>
          </a:lstStyle>
          <a:p>
            <a:pPr lvl="0"/>
            <a:r>
              <a:rPr lang="en-US"/>
              <a:t>Click to edit master text style</a:t>
            </a:r>
          </a:p>
        </p:txBody>
      </p: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749143" y="6356350"/>
            <a:ext cx="3775981" cy="365125"/>
          </a:xfrm>
        </p:spPr>
        <p:txBody>
          <a:bodyPr/>
          <a:lstStyle>
            <a:lvl1pPr>
              <a:defRPr sz="900"/>
            </a:lvl1pPr>
          </a:lstStyle>
          <a:p>
            <a:r>
              <a:rPr lang="en-US" dirty="0"/>
              <a:t>PRESENTATION TITLE</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a:lstStyle>
            <a:lvl1pPr>
              <a:defRPr sz="900"/>
            </a:lvl1pPr>
          </a:lstStyle>
          <a:p>
            <a:fld id="{A49DFD55-3C28-40EF-9E31-A92D2E4017FF}" type="slidenum">
              <a:rPr lang="en-US" smtClean="0"/>
              <a:pPr/>
              <a:t>‹#›</a:t>
            </a:fld>
            <a:endParaRPr lang="en-US" dirty="0"/>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userDrawn="1"/>
        </p:nvCxnSpPr>
        <p:spPr>
          <a:xfrm>
            <a:off x="4353515" y="502393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userDrawn="1"/>
        </p:nvCxnSpPr>
        <p:spPr>
          <a:xfrm>
            <a:off x="3759917" y="3948451"/>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userDrawn="1"/>
        </p:nvCxnSpPr>
        <p:spPr>
          <a:xfrm>
            <a:off x="3173453" y="2872686"/>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userDrawn="1"/>
        </p:nvCxnSpPr>
        <p:spPr>
          <a:xfrm>
            <a:off x="2586263" y="179608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11652594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EE24E1DB-1F20-4C28-8069-D9219D1F8BBD}"/>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368030" cy="3912394"/>
          </a:xfrm>
          <a:prstGeom prst="rect">
            <a:avLst/>
          </a:prstGeom>
        </p:spPr>
      </p:pic>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572757"/>
            <a:ext cx="8421688" cy="1644984"/>
          </a:xfrm>
        </p:spPr>
        <p:txBody>
          <a:bodyPr>
            <a:no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883877"/>
            <a:ext cx="3924300" cy="864157"/>
          </a:xfrm>
        </p:spPr>
        <p:txBody>
          <a:bodyPr anchor="ctr" anchorCtr="0">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883877"/>
            <a:ext cx="3943627" cy="864157"/>
          </a:xfrm>
        </p:spPr>
        <p:txBody>
          <a:bodyPr anchor="ctr" anchorCtr="0">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4324519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238250" y="522515"/>
            <a:ext cx="9710646" cy="1377306"/>
          </a:xfrm>
        </p:spPr>
        <p:txBody>
          <a:bodyPr>
            <a:no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3023393"/>
            <a:ext cx="2882475" cy="768371"/>
          </a:xfrm>
        </p:spPr>
        <p:txBody>
          <a:bodyPr anchor="ctr" anchorCtr="0">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3023393"/>
            <a:ext cx="2896671" cy="768371"/>
          </a:xfrm>
        </p:spPr>
        <p:txBody>
          <a:bodyPr anchor="ctr" anchorCtr="0">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3023393"/>
            <a:ext cx="2882475" cy="768371"/>
          </a:xfrm>
        </p:spPr>
        <p:txBody>
          <a:bodyPr anchor="ctr" anchorCtr="0">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grpSp>
        <p:nvGrpSpPr>
          <p:cNvPr id="10" name="Group 9">
            <a:extLst>
              <a:ext uri="{FF2B5EF4-FFF2-40B4-BE49-F238E27FC236}">
                <a16:creationId xmlns:a16="http://schemas.microsoft.com/office/drawing/2014/main" id="{B2368EF4-1233-48C7-8DB5-75844BFCD594}"/>
              </a:ext>
              <a:ext uri="{C183D7F6-B498-43B3-948B-1728B52AA6E4}">
                <adec:decorative xmlns:adec="http://schemas.microsoft.com/office/drawing/2017/decorative" val="1"/>
              </a:ext>
            </a:extLst>
          </p:cNvPr>
          <p:cNvGrpSpPr/>
          <p:nvPr userDrawn="1"/>
        </p:nvGrpSpPr>
        <p:grpSpPr>
          <a:xfrm>
            <a:off x="0" y="0"/>
            <a:ext cx="2238376" cy="3105150"/>
            <a:chOff x="0" y="0"/>
            <a:chExt cx="2238376" cy="3105150"/>
          </a:xfrm>
        </p:grpSpPr>
        <p:cxnSp>
          <p:nvCxnSpPr>
            <p:cNvPr id="16" name="Straight Connector 15">
              <a:extLst>
                <a:ext uri="{FF2B5EF4-FFF2-40B4-BE49-F238E27FC236}">
                  <a16:creationId xmlns:a16="http://schemas.microsoft.com/office/drawing/2014/main" id="{463D7850-C2A6-43CE-BBE4-8E81A0A593BF}"/>
                </a:ext>
              </a:extLst>
            </p:cNvPr>
            <p:cNvCxnSpPr>
              <a:cxnSpLocks/>
            </p:cNvCxnSpPr>
            <p:nvPr userDrawn="1"/>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Lst>
            </p:cNvPr>
            <p:cNvCxnSpPr>
              <a:cxnSpLocks/>
            </p:cNvCxnSpPr>
            <p:nvPr userDrawn="1"/>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18896713"/>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954593"/>
            <a:ext cx="5111750" cy="1921958"/>
          </a:xfrm>
        </p:spPr>
        <p:txBody>
          <a:bodyPr anchor="b">
            <a:no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60774"/>
            <a:ext cx="5111750" cy="1921958"/>
          </a:xfrm>
        </p:spPr>
        <p:txBody>
          <a:bodyPr>
            <a:normAutofit/>
          </a:bodyPr>
          <a:lstStyle>
            <a:lvl1pPr marL="0" indent="0">
              <a:lnSpc>
                <a:spcPct val="100000"/>
              </a:lnSpc>
              <a:buNone/>
              <a:defRPr sz="1400" spc="5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grpSp>
        <p:nvGrpSpPr>
          <p:cNvPr id="4" name="Group 3">
            <a:extLst>
              <a:ext uri="{FF2B5EF4-FFF2-40B4-BE49-F238E27FC236}">
                <a16:creationId xmlns:a16="http://schemas.microsoft.com/office/drawing/2014/main" id="{D74AA03A-263D-4B5F-B05B-7D6923A9A4D3}"/>
              </a:ext>
              <a:ext uri="{C183D7F6-B498-43B3-948B-1728B52AA6E4}">
                <adec:decorative xmlns:adec="http://schemas.microsoft.com/office/drawing/2017/decorative" val="1"/>
              </a:ext>
            </a:extLst>
          </p:cNvPr>
          <p:cNvGrpSpPr/>
          <p:nvPr userDrawn="1"/>
        </p:nvGrpSpPr>
        <p:grpSpPr>
          <a:xfrm>
            <a:off x="0" y="0"/>
            <a:ext cx="4762501" cy="5186363"/>
            <a:chOff x="0" y="0"/>
            <a:chExt cx="4762501" cy="5186363"/>
          </a:xfrm>
        </p:grpSpPr>
        <p:cxnSp>
          <p:nvCxnSpPr>
            <p:cNvPr id="23" name="Straight Connector 22">
              <a:extLst>
                <a:ext uri="{FF2B5EF4-FFF2-40B4-BE49-F238E27FC236}">
                  <a16:creationId xmlns:a16="http://schemas.microsoft.com/office/drawing/2014/main" id="{D87F08D6-2CA7-4A5A-BE34-07113DCA535D}"/>
                </a:ext>
              </a:extLst>
            </p:cNvPr>
            <p:cNvCxnSpPr>
              <a:cxnSpLocks/>
            </p:cNvCxnSpPr>
            <p:nvPr userDrawn="1"/>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userDrawn="1"/>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PRESENTATION TITLE</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917780591"/>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351693"/>
            <a:ext cx="4179570" cy="2453652"/>
          </a:xfrm>
        </p:spPr>
        <p:txBody>
          <a:bodyPr anchor="b">
            <a:noAutofit/>
          </a:bodyPr>
          <a:lstStyle>
            <a:lvl1pPr algn="l">
              <a:defRPr sz="3600" spc="150" baseline="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2107620"/>
          </a:xfrm>
        </p:spPr>
        <p:txBody>
          <a:bodyPr>
            <a:normAutofit/>
          </a:bodyPr>
          <a:lstStyle>
            <a:lvl1pPr marL="0" indent="0" algn="l">
              <a:lnSpc>
                <a:spcPct val="150000"/>
              </a:lnSpc>
              <a:buNone/>
              <a:defRPr sz="14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Graphic 5">
            <a:extLst>
              <a:ext uri="{FF2B5EF4-FFF2-40B4-BE49-F238E27FC236}">
                <a16:creationId xmlns:a16="http://schemas.microsoft.com/office/drawing/2014/main" id="{ED3361C9-310A-4255-A94E-B77588962DA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a:lstStyle>
            <a:lvl1pPr>
              <a:defRPr sz="900"/>
            </a:lvl1pPr>
          </a:lstStyle>
          <a:p>
            <a:r>
              <a:rPr lang="en-US" dirty="0"/>
              <a:t>PRESENTATION TITLE</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1291140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134303"/>
            <a:ext cx="10515600" cy="1325563"/>
          </a:xfrm>
          <a:prstGeom prst="rect">
            <a:avLst/>
          </a:prstGeom>
        </p:spPr>
        <p:txBody>
          <a:bodyPr vert="horz" lIns="91440" tIns="45720" rIns="91440" bIns="45720" rtlCol="0" anchor="b"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dirty="0"/>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9DFD55-3C28-40EF-9E31-A92D2E4017FF}" type="slidenum">
              <a:rPr lang="en-US" smtClean="0"/>
              <a:t>‹#›</a:t>
            </a:fld>
            <a:endParaRPr lang="en-US" dirty="0"/>
          </a:p>
        </p:txBody>
      </p:sp>
    </p:spTree>
    <p:extLst>
      <p:ext uri="{BB962C8B-B14F-4D97-AF65-F5344CB8AC3E}">
        <p14:creationId xmlns:p14="http://schemas.microsoft.com/office/powerpoint/2010/main" val="2319061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1" r:id="rId4"/>
    <p:sldLayoutId id="2147483666" r:id="rId5"/>
    <p:sldLayoutId id="2147483667" r:id="rId6"/>
    <p:sldLayoutId id="2147483654" r:id="rId7"/>
    <p:sldLayoutId id="2147483663" r:id="rId8"/>
    <p:sldLayoutId id="2147483662" r:id="rId9"/>
    <p:sldLayoutId id="2147483668" r:id="rId10"/>
    <p:sldLayoutId id="2147483652" r:id="rId11"/>
    <p:sldLayoutId id="2147483653" r:id="rId12"/>
    <p:sldLayoutId id="2147483660" r:id="rId13"/>
    <p:sldLayoutId id="2147483664" r:id="rId14"/>
    <p:sldLayoutId id="2147483665" r:id="rId15"/>
  </p:sldLayoutIdLst>
  <p:hf hdr="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75451-6A4B-484B-9ED1-353CCE25B0F4}"/>
              </a:ext>
            </a:extLst>
          </p:cNvPr>
          <p:cNvSpPr>
            <a:spLocks noGrp="1"/>
          </p:cNvSpPr>
          <p:nvPr>
            <p:ph type="ctrTitle"/>
          </p:nvPr>
        </p:nvSpPr>
        <p:spPr>
          <a:xfrm>
            <a:off x="6416040" y="3429000"/>
            <a:ext cx="4941771" cy="2128042"/>
          </a:xfrm>
        </p:spPr>
        <p:txBody>
          <a:bodyPr/>
          <a:lstStyle/>
          <a:p>
            <a:pPr algn="ctr"/>
            <a:r>
              <a:rPr lang="en-US" sz="2800" dirty="0"/>
              <a:t>Learning to Compare: </a:t>
            </a:r>
            <a:br>
              <a:rPr lang="en-US" sz="2800" dirty="0"/>
            </a:br>
            <a:r>
              <a:rPr lang="en-US" sz="2800" dirty="0"/>
              <a:t>Relation Network for Few-Shot Learning</a:t>
            </a:r>
          </a:p>
        </p:txBody>
      </p:sp>
    </p:spTree>
    <p:extLst>
      <p:ext uri="{BB962C8B-B14F-4D97-AF65-F5344CB8AC3E}">
        <p14:creationId xmlns:p14="http://schemas.microsoft.com/office/powerpoint/2010/main" val="2586058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F5859-10C9-4588-9727-B9362E26C29D}"/>
              </a:ext>
            </a:extLst>
          </p:cNvPr>
          <p:cNvSpPr>
            <a:spLocks noGrp="1"/>
          </p:cNvSpPr>
          <p:nvPr>
            <p:ph type="title"/>
          </p:nvPr>
        </p:nvSpPr>
        <p:spPr>
          <a:xfrm>
            <a:off x="1333500" y="291403"/>
            <a:ext cx="2895600" cy="557683"/>
          </a:xfrm>
        </p:spPr>
        <p:txBody>
          <a:bodyPr/>
          <a:lstStyle/>
          <a:p>
            <a:r>
              <a:rPr lang="en-US" sz="1800" dirty="0">
                <a:effectLst/>
                <a:latin typeface="Georgia" panose="02040502050405020303" pitchFamily="18" charset="0"/>
                <a:ea typeface="Georgia" panose="02040502050405020303" pitchFamily="18" charset="0"/>
                <a:cs typeface="Times New Roman" panose="02020603050405020304" pitchFamily="18" charset="0"/>
              </a:rPr>
              <a:t>Motivation</a:t>
            </a:r>
            <a:endParaRPr lang="en-US" dirty="0"/>
          </a:p>
        </p:txBody>
      </p:sp>
      <p:sp>
        <p:nvSpPr>
          <p:cNvPr id="3" name="Content Placeholder 2">
            <a:extLst>
              <a:ext uri="{FF2B5EF4-FFF2-40B4-BE49-F238E27FC236}">
                <a16:creationId xmlns:a16="http://schemas.microsoft.com/office/drawing/2014/main" id="{5671D7E5-EF66-4BCD-8DAA-E9061157F0BE}"/>
              </a:ext>
            </a:extLst>
          </p:cNvPr>
          <p:cNvSpPr>
            <a:spLocks noGrp="1"/>
          </p:cNvSpPr>
          <p:nvPr>
            <p:ph idx="1"/>
          </p:nvPr>
        </p:nvSpPr>
        <p:spPr>
          <a:xfrm>
            <a:off x="342899" y="1077686"/>
            <a:ext cx="5193405" cy="5029199"/>
          </a:xfrm>
        </p:spPr>
        <p:txBody>
          <a:bodyPr>
            <a:normAutofit/>
          </a:bodyPr>
          <a:lstStyle/>
          <a:p>
            <a:pPr marL="0" marR="0" algn="just">
              <a:spcBef>
                <a:spcPts val="0"/>
              </a:spcBef>
              <a:spcAft>
                <a:spcPts val="0"/>
              </a:spcAft>
            </a:pPr>
            <a:r>
              <a:rPr lang="en-US" sz="1800" dirty="0">
                <a:effectLst/>
                <a:ea typeface="Georgia" panose="02040502050405020303" pitchFamily="18" charset="0"/>
                <a:cs typeface="Times New Roman" panose="02020603050405020304" pitchFamily="18" charset="0"/>
              </a:rPr>
              <a:t>The “nearest neighbor” is found and its class is assigned to the unknown sample</a:t>
            </a:r>
          </a:p>
          <a:p>
            <a:pPr marL="342900" marR="0" lvl="0" indent="-342900" algn="just">
              <a:spcBef>
                <a:spcPts val="0"/>
              </a:spcBef>
              <a:spcAft>
                <a:spcPts val="0"/>
              </a:spcAft>
              <a:buFont typeface="Wingdings" panose="05000000000000000000" pitchFamily="2" charset="2"/>
              <a:buChar char=""/>
            </a:pPr>
            <a:r>
              <a:rPr lang="en-US" sz="1800" dirty="0">
                <a:effectLst/>
                <a:ea typeface="Georgia" panose="02040502050405020303" pitchFamily="18" charset="0"/>
                <a:cs typeface="Times New Roman" panose="02020603050405020304" pitchFamily="18" charset="0"/>
              </a:rPr>
              <a:t>Advantage: </a:t>
            </a:r>
          </a:p>
          <a:p>
            <a:pPr marL="342900" marR="0" lvl="0" indent="-342900" algn="just">
              <a:spcBef>
                <a:spcPts val="0"/>
              </a:spcBef>
              <a:spcAft>
                <a:spcPts val="0"/>
              </a:spcAft>
              <a:buFont typeface="Georgia" panose="02040502050405020303" pitchFamily="18" charset="0"/>
              <a:buChar char="-"/>
            </a:pPr>
            <a:r>
              <a:rPr lang="en-US" sz="1800" dirty="0">
                <a:effectLst/>
                <a:ea typeface="Georgia" panose="02040502050405020303" pitchFamily="18" charset="0"/>
                <a:cs typeface="Times New Roman" panose="02020603050405020304" pitchFamily="18" charset="0"/>
              </a:rPr>
              <a:t>simple and fast</a:t>
            </a:r>
          </a:p>
          <a:p>
            <a:pPr marL="0" marR="0" algn="just">
              <a:spcBef>
                <a:spcPts val="0"/>
              </a:spcBef>
              <a:spcAft>
                <a:spcPts val="0"/>
              </a:spcAft>
            </a:pPr>
            <a:r>
              <a:rPr lang="en-US" sz="1800" dirty="0">
                <a:effectLst/>
                <a:ea typeface="Georgia" panose="02040502050405020303" pitchFamily="18" charset="0"/>
                <a:cs typeface="Times New Roman" panose="02020603050405020304" pitchFamily="18" charset="0"/>
              </a:rPr>
              <a:t> </a:t>
            </a:r>
          </a:p>
          <a:p>
            <a:pPr marL="342900" marR="0" lvl="0" indent="-342900" algn="just">
              <a:spcBef>
                <a:spcPts val="0"/>
              </a:spcBef>
              <a:spcAft>
                <a:spcPts val="0"/>
              </a:spcAft>
              <a:buFont typeface="Wingdings" panose="05000000000000000000" pitchFamily="2" charset="2"/>
              <a:buChar char=""/>
            </a:pPr>
            <a:r>
              <a:rPr lang="en-US" sz="1800" dirty="0">
                <a:effectLst/>
                <a:ea typeface="Georgia" panose="02040502050405020303" pitchFamily="18" charset="0"/>
                <a:cs typeface="Times New Roman" panose="02020603050405020304" pitchFamily="18" charset="0"/>
              </a:rPr>
              <a:t>Disadvantages:</a:t>
            </a:r>
          </a:p>
          <a:p>
            <a:pPr marL="342900" marR="0" lvl="0" indent="-342900" algn="just">
              <a:spcBef>
                <a:spcPts val="0"/>
              </a:spcBef>
              <a:spcAft>
                <a:spcPts val="0"/>
              </a:spcAft>
              <a:buFont typeface="Georgia" panose="02040502050405020303" pitchFamily="18" charset="0"/>
              <a:buChar char="-"/>
            </a:pPr>
            <a:r>
              <a:rPr lang="en-US" sz="1800" dirty="0">
                <a:effectLst/>
                <a:ea typeface="Georgia" panose="02040502050405020303" pitchFamily="18" charset="0"/>
                <a:cs typeface="Times New Roman" panose="02020603050405020304" pitchFamily="18" charset="0"/>
              </a:rPr>
              <a:t>The embedding is not general and can produce many false neighbors for the target domain</a:t>
            </a:r>
          </a:p>
          <a:p>
            <a:pPr marL="342900" marR="0" lvl="0" indent="-342900" algn="just">
              <a:spcBef>
                <a:spcPts val="0"/>
              </a:spcBef>
              <a:spcAft>
                <a:spcPts val="0"/>
              </a:spcAft>
              <a:buFont typeface="Georgia" panose="02040502050405020303" pitchFamily="18" charset="0"/>
              <a:buChar char="-"/>
            </a:pPr>
            <a:r>
              <a:rPr lang="en-US" sz="1800" dirty="0">
                <a:effectLst/>
                <a:ea typeface="Georgia" panose="02040502050405020303" pitchFamily="18" charset="0"/>
                <a:cs typeface="Times New Roman" panose="02020603050405020304" pitchFamily="18" charset="0"/>
              </a:rPr>
              <a:t>The distance metric is simple and will not account for the complexities of the embedding space</a:t>
            </a:r>
          </a:p>
        </p:txBody>
      </p:sp>
      <p:sp>
        <p:nvSpPr>
          <p:cNvPr id="6" name="Slide Number Placeholder 5">
            <a:extLst>
              <a:ext uri="{FF2B5EF4-FFF2-40B4-BE49-F238E27FC236}">
                <a16:creationId xmlns:a16="http://schemas.microsoft.com/office/drawing/2014/main" id="{7C991F00-87A7-45A6-8029-B097FA72498D}"/>
              </a:ext>
            </a:extLst>
          </p:cNvPr>
          <p:cNvSpPr>
            <a:spLocks noGrp="1"/>
          </p:cNvSpPr>
          <p:nvPr>
            <p:ph type="sldNum" sz="quarter" idx="12"/>
          </p:nvPr>
        </p:nvSpPr>
        <p:spPr>
          <a:xfrm>
            <a:off x="5536305" y="6356350"/>
            <a:ext cx="987552" cy="365125"/>
          </a:xfrm>
        </p:spPr>
        <p:txBody>
          <a:bodyPr/>
          <a:lstStyle/>
          <a:p>
            <a:fld id="{A49DFD55-3C28-40EF-9E31-A92D2E4017FF}" type="slidenum">
              <a:rPr lang="en-US" smtClean="0"/>
              <a:pPr/>
              <a:t>2</a:t>
            </a:fld>
            <a:endParaRPr lang="en-US" dirty="0"/>
          </a:p>
        </p:txBody>
      </p:sp>
    </p:spTree>
    <p:extLst>
      <p:ext uri="{BB962C8B-B14F-4D97-AF65-F5344CB8AC3E}">
        <p14:creationId xmlns:p14="http://schemas.microsoft.com/office/powerpoint/2010/main" val="17132195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1362075" y="612949"/>
            <a:ext cx="5111750" cy="320675"/>
          </a:xfrm>
        </p:spPr>
        <p:txBody>
          <a:bodyPr/>
          <a:lstStyle/>
          <a:p>
            <a:r>
              <a:rPr lang="en-US" sz="1800" dirty="0">
                <a:effectLst/>
                <a:latin typeface="Georgia" panose="02040502050405020303" pitchFamily="18" charset="0"/>
                <a:ea typeface="Georgia" panose="02040502050405020303" pitchFamily="18" charset="0"/>
                <a:cs typeface="Times New Roman" panose="02020603050405020304" pitchFamily="18" charset="0"/>
              </a:rPr>
              <a:t>Motivation contd.</a:t>
            </a:r>
            <a:endParaRPr lang="en-US" dirty="0"/>
          </a:p>
        </p:txBody>
      </p:sp>
      <p:sp>
        <p:nvSpPr>
          <p:cNvPr id="3" name="Text Placeholder 2">
            <a:extLst>
              <a:ext uri="{FF2B5EF4-FFF2-40B4-BE49-F238E27FC236}">
                <a16:creationId xmlns:a16="http://schemas.microsoft.com/office/drawing/2014/main" id="{9D5232F9-FD00-464A-9F17-619C91AEF8F3}"/>
              </a:ext>
            </a:extLst>
          </p:cNvPr>
          <p:cNvSpPr>
            <a:spLocks noGrp="1"/>
          </p:cNvSpPr>
          <p:nvPr>
            <p:ph type="body" idx="1"/>
          </p:nvPr>
        </p:nvSpPr>
        <p:spPr>
          <a:xfrm>
            <a:off x="838200" y="1159329"/>
            <a:ext cx="5635625" cy="5085722"/>
          </a:xfrm>
        </p:spPr>
        <p:txBody>
          <a:bodyPr>
            <a:normAutofit/>
          </a:bodyPr>
          <a:lstStyle/>
          <a:p>
            <a:pPr marL="0" marR="0" algn="just">
              <a:spcBef>
                <a:spcPts val="0"/>
              </a:spcBef>
              <a:spcAft>
                <a:spcPts val="0"/>
              </a:spcAft>
            </a:pPr>
            <a:r>
              <a:rPr lang="en-US" sz="1800" dirty="0">
                <a:effectLst/>
                <a:ea typeface="Georgia" panose="02040502050405020303" pitchFamily="18" charset="0"/>
                <a:cs typeface="Times New Roman" panose="02020603050405020304" pitchFamily="18" charset="0"/>
              </a:rPr>
              <a:t>“RN”</a:t>
            </a:r>
          </a:p>
          <a:p>
            <a:pPr marL="342900" marR="0" lvl="0" indent="-342900" algn="just">
              <a:spcBef>
                <a:spcPts val="0"/>
              </a:spcBef>
              <a:spcAft>
                <a:spcPts val="0"/>
              </a:spcAft>
              <a:buFont typeface="Wingdings" panose="05000000000000000000" pitchFamily="2" charset="2"/>
              <a:buChar char=""/>
            </a:pPr>
            <a:r>
              <a:rPr lang="en-US" sz="1800" dirty="0">
                <a:effectLst/>
                <a:ea typeface="Georgia" panose="02040502050405020303" pitchFamily="18" charset="0"/>
                <a:cs typeface="Times New Roman" panose="02020603050405020304" pitchFamily="18" charset="0"/>
              </a:rPr>
              <a:t>Advantage: </a:t>
            </a:r>
          </a:p>
          <a:p>
            <a:pPr marL="342900" marR="0" lvl="0" indent="-342900" algn="just">
              <a:spcBef>
                <a:spcPts val="0"/>
              </a:spcBef>
              <a:spcAft>
                <a:spcPts val="0"/>
              </a:spcAft>
              <a:buFont typeface="Georgia" panose="02040502050405020303" pitchFamily="18" charset="0"/>
              <a:buChar char="-"/>
            </a:pPr>
            <a:r>
              <a:rPr lang="en-US" sz="1800" dirty="0">
                <a:effectLst/>
                <a:ea typeface="Georgia" panose="02040502050405020303" pitchFamily="18" charset="0"/>
                <a:cs typeface="Times New Roman" panose="02020603050405020304" pitchFamily="18" charset="0"/>
              </a:rPr>
              <a:t>The embedding is general and learned on a large set of data that enables it to be represented with a complex model with many parameters without overfitting.</a:t>
            </a:r>
          </a:p>
          <a:p>
            <a:pPr marL="0" marR="0" algn="just">
              <a:spcBef>
                <a:spcPts val="0"/>
              </a:spcBef>
              <a:spcAft>
                <a:spcPts val="0"/>
              </a:spcAft>
            </a:pPr>
            <a:r>
              <a:rPr lang="en-US" sz="1800" dirty="0">
                <a:effectLst/>
                <a:ea typeface="Georgia" panose="02040502050405020303" pitchFamily="18" charset="0"/>
                <a:cs typeface="Times New Roman" panose="02020603050405020304" pitchFamily="18" charset="0"/>
              </a:rPr>
              <a:t> </a:t>
            </a:r>
          </a:p>
          <a:p>
            <a:pPr marL="342900" marR="0" lvl="0" indent="-342900" algn="just">
              <a:spcBef>
                <a:spcPts val="0"/>
              </a:spcBef>
              <a:spcAft>
                <a:spcPts val="0"/>
              </a:spcAft>
              <a:buFont typeface="Wingdings" panose="05000000000000000000" pitchFamily="2" charset="2"/>
              <a:buChar char=""/>
            </a:pPr>
            <a:r>
              <a:rPr lang="en-US" sz="1800" dirty="0">
                <a:effectLst/>
                <a:ea typeface="Georgia" panose="02040502050405020303" pitchFamily="18" charset="0"/>
                <a:cs typeface="Times New Roman" panose="02020603050405020304" pitchFamily="18" charset="0"/>
              </a:rPr>
              <a:t>Advantage: </a:t>
            </a:r>
          </a:p>
          <a:p>
            <a:pPr marL="342900" marR="0" lvl="0" indent="-342900" algn="just">
              <a:spcBef>
                <a:spcPts val="0"/>
              </a:spcBef>
              <a:spcAft>
                <a:spcPts val="0"/>
              </a:spcAft>
              <a:buFont typeface="Georgia" panose="02040502050405020303" pitchFamily="18" charset="0"/>
              <a:buChar char="-"/>
            </a:pPr>
            <a:r>
              <a:rPr lang="en-US" sz="1800" dirty="0">
                <a:effectLst/>
                <a:ea typeface="Georgia" panose="02040502050405020303" pitchFamily="18" charset="0"/>
                <a:cs typeface="Times New Roman" panose="02020603050405020304" pitchFamily="18" charset="0"/>
              </a:rPr>
              <a:t>The relation module is learned and is non-linear, allowing it to find matches that are better.</a:t>
            </a:r>
          </a:p>
        </p:txBody>
      </p:sp>
      <p:sp>
        <p:nvSpPr>
          <p:cNvPr id="4" name="Date Placeholder 3">
            <a:extLst>
              <a:ext uri="{FF2B5EF4-FFF2-40B4-BE49-F238E27FC236}">
                <a16:creationId xmlns:a16="http://schemas.microsoft.com/office/drawing/2014/main" id="{70E12647-CCB2-45E2-A9CB-A868F490497E}"/>
              </a:ext>
            </a:extLst>
          </p:cNvPr>
          <p:cNvSpPr>
            <a:spLocks noGrp="1"/>
          </p:cNvSpPr>
          <p:nvPr>
            <p:ph type="dt" sz="half" idx="10"/>
          </p:nvPr>
        </p:nvSpPr>
        <p:spPr>
          <a:xfrm>
            <a:off x="838200" y="6356350"/>
            <a:ext cx="1219200" cy="365125"/>
          </a:xfrm>
        </p:spPr>
        <p:txBody>
          <a:bodyPr/>
          <a:lstStyle/>
          <a:p>
            <a:r>
              <a:rPr lang="en-US" dirty="0"/>
              <a:t>20XX</a:t>
            </a:r>
          </a:p>
        </p:txBody>
      </p:sp>
      <p:sp>
        <p:nvSpPr>
          <p:cNvPr id="5" name="Footer Placeholder 4">
            <a:extLst>
              <a:ext uri="{FF2B5EF4-FFF2-40B4-BE49-F238E27FC236}">
                <a16:creationId xmlns:a16="http://schemas.microsoft.com/office/drawing/2014/main" id="{8D51ED20-04D4-4894-B0C2-9C541A61A734}"/>
              </a:ext>
            </a:extLst>
          </p:cNvPr>
          <p:cNvSpPr>
            <a:spLocks noGrp="1"/>
          </p:cNvSpPr>
          <p:nvPr>
            <p:ph type="ftr" sz="quarter" idx="11"/>
          </p:nvPr>
        </p:nvSpPr>
        <p:spPr>
          <a:xfrm>
            <a:off x="2463800" y="6356350"/>
            <a:ext cx="3479800" cy="365125"/>
          </a:xfrm>
        </p:spPr>
        <p:txBody>
          <a:bodyPr/>
          <a:lstStyle/>
          <a:p>
            <a:r>
              <a:rPr lang="en-US" dirty="0"/>
              <a:t>PRESENTATION TITLE</a:t>
            </a:r>
          </a:p>
        </p:txBody>
      </p:sp>
      <p:sp>
        <p:nvSpPr>
          <p:cNvPr id="6" name="Slide Number Placeholder 5">
            <a:extLst>
              <a:ext uri="{FF2B5EF4-FFF2-40B4-BE49-F238E27FC236}">
                <a16:creationId xmlns:a16="http://schemas.microsoft.com/office/drawing/2014/main" id="{7BC1787E-7110-4989-B0B8-DD4E0ACC09DF}"/>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3</a:t>
            </a:fld>
            <a:endParaRPr lang="en-US" dirty="0"/>
          </a:p>
        </p:txBody>
      </p:sp>
    </p:spTree>
    <p:extLst>
      <p:ext uri="{BB962C8B-B14F-4D97-AF65-F5344CB8AC3E}">
        <p14:creationId xmlns:p14="http://schemas.microsoft.com/office/powerpoint/2010/main" val="35715163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E5F11-B7B9-4B80-8C6A-A8A7A7190B77}"/>
              </a:ext>
            </a:extLst>
          </p:cNvPr>
          <p:cNvSpPr>
            <a:spLocks noGrp="1"/>
          </p:cNvSpPr>
          <p:nvPr>
            <p:ph type="ctrTitle"/>
          </p:nvPr>
        </p:nvSpPr>
        <p:spPr>
          <a:xfrm>
            <a:off x="6991350" y="522514"/>
            <a:ext cx="4179570" cy="365125"/>
          </a:xfrm>
        </p:spPr>
        <p:txBody>
          <a:bodyPr/>
          <a:lstStyle/>
          <a:p>
            <a:r>
              <a:rPr lang="en-US" sz="1800" dirty="0">
                <a:effectLst/>
                <a:latin typeface="Georgia" panose="02040502050405020303" pitchFamily="18" charset="0"/>
                <a:ea typeface="Georgia" panose="02040502050405020303" pitchFamily="18" charset="0"/>
                <a:cs typeface="Times New Roman" panose="02020603050405020304" pitchFamily="18" charset="0"/>
              </a:rPr>
              <a:t>RN Methodology </a:t>
            </a:r>
            <a:endParaRPr lang="en-US" dirty="0"/>
          </a:p>
        </p:txBody>
      </p:sp>
      <p:sp>
        <p:nvSpPr>
          <p:cNvPr id="3" name="Subtitle 2">
            <a:extLst>
              <a:ext uri="{FF2B5EF4-FFF2-40B4-BE49-F238E27FC236}">
                <a16:creationId xmlns:a16="http://schemas.microsoft.com/office/drawing/2014/main" id="{DA8AFAA9-633A-475C-B8ED-840A34F7294D}"/>
              </a:ext>
            </a:extLst>
          </p:cNvPr>
          <p:cNvSpPr>
            <a:spLocks noGrp="1"/>
          </p:cNvSpPr>
          <p:nvPr>
            <p:ph type="subTitle" idx="1"/>
          </p:nvPr>
        </p:nvSpPr>
        <p:spPr>
          <a:xfrm>
            <a:off x="6743700" y="1045028"/>
            <a:ext cx="4686299" cy="5034495"/>
          </a:xfrm>
        </p:spPr>
        <p:txBody>
          <a:bodyPr/>
          <a:lstStyle/>
          <a:p>
            <a:pPr marL="342900" marR="0" lvl="0" indent="-342900" algn="just">
              <a:spcBef>
                <a:spcPts val="0"/>
              </a:spcBef>
              <a:spcAft>
                <a:spcPts val="0"/>
              </a:spcAft>
              <a:buFont typeface="Wingdings" panose="05000000000000000000" pitchFamily="2" charset="2"/>
              <a:buChar char=""/>
            </a:pPr>
            <a:r>
              <a:rPr lang="en-US" sz="1800" dirty="0">
                <a:effectLst/>
                <a:ea typeface="Georgia" panose="02040502050405020303" pitchFamily="18" charset="0"/>
                <a:cs typeface="Times New Roman" panose="02020603050405020304" pitchFamily="18" charset="0"/>
              </a:rPr>
              <a:t>RN uses three datasets: a training set, a support set and a testing set. The support set and testing set share the same labels. The labels in the training set are disjoint from the support and testing set. This is in contrast to typical supervised learning where the training, validation and test sets all share the same labels.</a:t>
            </a:r>
          </a:p>
          <a:p>
            <a:pPr marL="0" marR="0" algn="just">
              <a:spcBef>
                <a:spcPts val="0"/>
              </a:spcBef>
              <a:spcAft>
                <a:spcPts val="0"/>
              </a:spcAft>
            </a:pPr>
            <a:r>
              <a:rPr lang="en-US" sz="1800" dirty="0">
                <a:effectLst/>
                <a:ea typeface="Georgia" panose="02040502050405020303" pitchFamily="18" charset="0"/>
                <a:cs typeface="Times New Roman" panose="02020603050405020304" pitchFamily="18" charset="0"/>
              </a:rPr>
              <a:t> </a:t>
            </a:r>
          </a:p>
          <a:p>
            <a:pPr marL="342900" marR="0" lvl="0" indent="-342900" algn="just">
              <a:spcBef>
                <a:spcPts val="0"/>
              </a:spcBef>
              <a:spcAft>
                <a:spcPts val="0"/>
              </a:spcAft>
              <a:buFont typeface="Wingdings" panose="05000000000000000000" pitchFamily="2" charset="2"/>
              <a:buChar char=""/>
            </a:pPr>
            <a:r>
              <a:rPr lang="en-US" sz="1800" dirty="0">
                <a:effectLst/>
                <a:ea typeface="Georgia" panose="02040502050405020303" pitchFamily="18" charset="0"/>
                <a:cs typeface="Times New Roman" panose="02020603050405020304" pitchFamily="18" charset="0"/>
              </a:rPr>
              <a:t>In C-way K-shot learning the training set contains C classes each of which has K examples.</a:t>
            </a:r>
          </a:p>
          <a:p>
            <a:pPr marL="0" marR="0">
              <a:spcBef>
                <a:spcPts val="0"/>
              </a:spcBef>
              <a:spcAft>
                <a:spcPts val="0"/>
              </a:spcAft>
            </a:pPr>
            <a:r>
              <a:rPr lang="en-US" sz="1800" dirty="0">
                <a:effectLst/>
                <a:ea typeface="Georgia" panose="02040502050405020303" pitchFamily="18" charset="0"/>
                <a:cs typeface="Times New Roman" panose="02020603050405020304" pitchFamily="18" charset="0"/>
              </a:rPr>
              <a:t> </a:t>
            </a:r>
          </a:p>
        </p:txBody>
      </p:sp>
    </p:spTree>
    <p:extLst>
      <p:ext uri="{BB962C8B-B14F-4D97-AF65-F5344CB8AC3E}">
        <p14:creationId xmlns:p14="http://schemas.microsoft.com/office/powerpoint/2010/main" val="379728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1362075" y="612949"/>
            <a:ext cx="5111750" cy="320675"/>
          </a:xfrm>
        </p:spPr>
        <p:txBody>
          <a:bodyPr/>
          <a:lstStyle/>
          <a:p>
            <a:r>
              <a:rPr lang="en-US" sz="1800" dirty="0">
                <a:effectLst/>
                <a:latin typeface="Georgia" panose="02040502050405020303" pitchFamily="18" charset="0"/>
                <a:ea typeface="Georgia" panose="02040502050405020303" pitchFamily="18" charset="0"/>
                <a:cs typeface="Times New Roman" panose="02020603050405020304" pitchFamily="18" charset="0"/>
              </a:rPr>
              <a:t>RN Methodology contd.</a:t>
            </a:r>
            <a:endParaRPr lang="en-US" dirty="0"/>
          </a:p>
        </p:txBody>
      </p:sp>
      <p:sp>
        <p:nvSpPr>
          <p:cNvPr id="3" name="Text Placeholder 2">
            <a:extLst>
              <a:ext uri="{FF2B5EF4-FFF2-40B4-BE49-F238E27FC236}">
                <a16:creationId xmlns:a16="http://schemas.microsoft.com/office/drawing/2014/main" id="{9D5232F9-FD00-464A-9F17-619C91AEF8F3}"/>
              </a:ext>
            </a:extLst>
          </p:cNvPr>
          <p:cNvSpPr>
            <a:spLocks noGrp="1"/>
          </p:cNvSpPr>
          <p:nvPr>
            <p:ph type="body" idx="1"/>
          </p:nvPr>
        </p:nvSpPr>
        <p:spPr>
          <a:xfrm>
            <a:off x="838200" y="1252151"/>
            <a:ext cx="5635625" cy="4992900"/>
          </a:xfrm>
        </p:spPr>
        <p:txBody>
          <a:bodyPr>
            <a:normAutofit/>
          </a:bodyPr>
          <a:lstStyle/>
          <a:p>
            <a:pPr marL="285750" marR="0" indent="-285750" algn="just">
              <a:spcBef>
                <a:spcPts val="0"/>
              </a:spcBef>
              <a:spcAft>
                <a:spcPts val="0"/>
              </a:spcAft>
              <a:buFont typeface="Wingdings" panose="05000000000000000000" pitchFamily="2" charset="2"/>
              <a:buChar char="Ø"/>
            </a:pPr>
            <a:r>
              <a:rPr lang="en-US" sz="1800" dirty="0">
                <a:effectLst/>
                <a:ea typeface="Georgia" panose="02040502050405020303" pitchFamily="18" charset="0"/>
                <a:cs typeface="Times New Roman" panose="02020603050405020304" pitchFamily="18" charset="0"/>
              </a:rPr>
              <a:t>As mentioned previously given a small training test a simple NN classifier can be used but the performance will be poor.</a:t>
            </a:r>
            <a:r>
              <a:rPr lang="en-US" sz="1800" dirty="0">
                <a:ea typeface="Georgia" panose="02040502050405020303" pitchFamily="18" charset="0"/>
                <a:cs typeface="Times New Roman" panose="02020603050405020304" pitchFamily="18" charset="0"/>
              </a:rPr>
              <a:t> </a:t>
            </a:r>
            <a:br>
              <a:rPr lang="en-US" sz="1800" dirty="0">
                <a:ea typeface="Georgia" panose="02040502050405020303" pitchFamily="18" charset="0"/>
                <a:cs typeface="Times New Roman" panose="02020603050405020304" pitchFamily="18" charset="0"/>
              </a:rPr>
            </a:br>
            <a:endParaRPr lang="en-US" sz="1800" dirty="0">
              <a:ea typeface="Georgia" panose="02040502050405020303" pitchFamily="18" charset="0"/>
              <a:cs typeface="Times New Roman" panose="02020603050405020304" pitchFamily="18" charset="0"/>
            </a:endParaRPr>
          </a:p>
          <a:p>
            <a:pPr marL="285750" marR="0" indent="-285750" algn="just">
              <a:spcBef>
                <a:spcPts val="0"/>
              </a:spcBef>
              <a:spcAft>
                <a:spcPts val="0"/>
              </a:spcAft>
              <a:buFont typeface="Wingdings" panose="05000000000000000000" pitchFamily="2" charset="2"/>
              <a:buChar char="Ø"/>
            </a:pPr>
            <a:r>
              <a:rPr lang="en-US" sz="1800" dirty="0">
                <a:effectLst/>
                <a:ea typeface="Georgia" panose="02040502050405020303" pitchFamily="18" charset="0"/>
                <a:cs typeface="Times New Roman" panose="02020603050405020304" pitchFamily="18" charset="0"/>
              </a:rPr>
              <a:t>By leveraging the training set its information can be transferred to the RN and will result in better performance on the test set.</a:t>
            </a:r>
            <a:br>
              <a:rPr lang="en-US" sz="1800" dirty="0">
                <a:effectLst/>
                <a:ea typeface="Georgia" panose="02040502050405020303" pitchFamily="18" charset="0"/>
                <a:cs typeface="Times New Roman" panose="02020603050405020304" pitchFamily="18" charset="0"/>
              </a:rPr>
            </a:br>
            <a:r>
              <a:rPr lang="en-US" sz="1800" dirty="0">
                <a:effectLst/>
                <a:ea typeface="Georgia" panose="02040502050405020303" pitchFamily="18" charset="0"/>
                <a:cs typeface="Times New Roman" panose="02020603050405020304" pitchFamily="18" charset="0"/>
              </a:rPr>
              <a:t> </a:t>
            </a:r>
          </a:p>
          <a:p>
            <a:pPr marL="285750" marR="0" indent="-285750" algn="just">
              <a:spcBef>
                <a:spcPts val="0"/>
              </a:spcBef>
              <a:spcAft>
                <a:spcPts val="0"/>
              </a:spcAft>
              <a:buFont typeface="Wingdings" panose="05000000000000000000" pitchFamily="2" charset="2"/>
              <a:buChar char="Ø"/>
            </a:pPr>
            <a:r>
              <a:rPr lang="en-US" sz="1800" dirty="0">
                <a:effectLst/>
                <a:ea typeface="Georgia" panose="02040502050405020303" pitchFamily="18" charset="0"/>
                <a:cs typeface="Times New Roman" panose="02020603050405020304" pitchFamily="18" charset="0"/>
              </a:rPr>
              <a:t>Episode based training is used to build mini-batches of examples that mimic the support/test set.</a:t>
            </a:r>
          </a:p>
          <a:p>
            <a:pPr marL="285750" indent="-285750" algn="just">
              <a:spcBef>
                <a:spcPts val="0"/>
              </a:spcBef>
              <a:buFont typeface="Wingdings" panose="05000000000000000000" pitchFamily="2" charset="2"/>
              <a:buChar char="Ø"/>
            </a:pPr>
            <a:endParaRPr lang="en-US" sz="1800" dirty="0">
              <a:effectLst/>
              <a:ea typeface="Georgia" panose="02040502050405020303" pitchFamily="18" charset="0"/>
              <a:cs typeface="Times New Roman" panose="02020603050405020304" pitchFamily="18" charset="0"/>
            </a:endParaRPr>
          </a:p>
          <a:p>
            <a:pPr marL="285750" indent="-285750" algn="just">
              <a:spcBef>
                <a:spcPts val="0"/>
              </a:spcBef>
              <a:buFont typeface="Wingdings" panose="05000000000000000000" pitchFamily="2" charset="2"/>
              <a:buChar char="Ø"/>
            </a:pPr>
            <a:r>
              <a:rPr lang="en-US" sz="1800" dirty="0">
                <a:effectLst/>
                <a:ea typeface="Georgia" panose="02040502050405020303" pitchFamily="18" charset="0"/>
                <a:cs typeface="Times New Roman" panose="02020603050405020304" pitchFamily="18" charset="0"/>
              </a:rPr>
              <a:t>The mini-batches are constructed from a random set of C classes from the training set using K examples of each class. During each episode of the training a new set of C classes are used to form a Sample Set and a Query Set.</a:t>
            </a:r>
          </a:p>
          <a:p>
            <a:pPr marL="285750" marR="0" indent="-285750" algn="just">
              <a:spcBef>
                <a:spcPts val="0"/>
              </a:spcBef>
              <a:spcAft>
                <a:spcPts val="0"/>
              </a:spcAft>
              <a:buFont typeface="Wingdings" panose="05000000000000000000" pitchFamily="2" charset="2"/>
              <a:buChar char="Ø"/>
            </a:pPr>
            <a:endParaRPr lang="en-US" sz="1800" dirty="0">
              <a:effectLst/>
              <a:ea typeface="Georgia" panose="02040502050405020303"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70E12647-CCB2-45E2-A9CB-A868F490497E}"/>
              </a:ext>
            </a:extLst>
          </p:cNvPr>
          <p:cNvSpPr>
            <a:spLocks noGrp="1"/>
          </p:cNvSpPr>
          <p:nvPr>
            <p:ph type="dt" sz="half" idx="10"/>
          </p:nvPr>
        </p:nvSpPr>
        <p:spPr>
          <a:xfrm>
            <a:off x="838200" y="6356350"/>
            <a:ext cx="1219200" cy="365125"/>
          </a:xfrm>
        </p:spPr>
        <p:txBody>
          <a:bodyPr/>
          <a:lstStyle/>
          <a:p>
            <a:r>
              <a:rPr lang="en-US" dirty="0"/>
              <a:t>20XX</a:t>
            </a:r>
          </a:p>
        </p:txBody>
      </p:sp>
      <p:sp>
        <p:nvSpPr>
          <p:cNvPr id="5" name="Footer Placeholder 4">
            <a:extLst>
              <a:ext uri="{FF2B5EF4-FFF2-40B4-BE49-F238E27FC236}">
                <a16:creationId xmlns:a16="http://schemas.microsoft.com/office/drawing/2014/main" id="{8D51ED20-04D4-4894-B0C2-9C541A61A734}"/>
              </a:ext>
            </a:extLst>
          </p:cNvPr>
          <p:cNvSpPr>
            <a:spLocks noGrp="1"/>
          </p:cNvSpPr>
          <p:nvPr>
            <p:ph type="ftr" sz="quarter" idx="11"/>
          </p:nvPr>
        </p:nvSpPr>
        <p:spPr>
          <a:xfrm>
            <a:off x="2463800" y="6356350"/>
            <a:ext cx="3479800" cy="365125"/>
          </a:xfrm>
        </p:spPr>
        <p:txBody>
          <a:bodyPr/>
          <a:lstStyle/>
          <a:p>
            <a:r>
              <a:rPr lang="en-US" dirty="0"/>
              <a:t>PRESENTATION TITLE</a:t>
            </a:r>
          </a:p>
        </p:txBody>
      </p:sp>
      <p:sp>
        <p:nvSpPr>
          <p:cNvPr id="6" name="Slide Number Placeholder 5">
            <a:extLst>
              <a:ext uri="{FF2B5EF4-FFF2-40B4-BE49-F238E27FC236}">
                <a16:creationId xmlns:a16="http://schemas.microsoft.com/office/drawing/2014/main" id="{7BC1787E-7110-4989-B0B8-DD4E0ACC09DF}"/>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5</a:t>
            </a:fld>
            <a:endParaRPr lang="en-US" dirty="0"/>
          </a:p>
        </p:txBody>
      </p:sp>
    </p:spTree>
    <p:extLst>
      <p:ext uri="{BB962C8B-B14F-4D97-AF65-F5344CB8AC3E}">
        <p14:creationId xmlns:p14="http://schemas.microsoft.com/office/powerpoint/2010/main" val="1046083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E5F11-B7B9-4B80-8C6A-A8A7A7190B77}"/>
              </a:ext>
            </a:extLst>
          </p:cNvPr>
          <p:cNvSpPr>
            <a:spLocks noGrp="1"/>
          </p:cNvSpPr>
          <p:nvPr>
            <p:ph type="ctrTitle"/>
          </p:nvPr>
        </p:nvSpPr>
        <p:spPr>
          <a:xfrm>
            <a:off x="6991350" y="522514"/>
            <a:ext cx="4179570" cy="365125"/>
          </a:xfrm>
        </p:spPr>
        <p:txBody>
          <a:bodyPr/>
          <a:lstStyle/>
          <a:p>
            <a:r>
              <a:rPr lang="en-US" sz="1800" dirty="0">
                <a:effectLst/>
                <a:latin typeface="Georgia" panose="02040502050405020303" pitchFamily="18" charset="0"/>
                <a:ea typeface="Georgia" panose="02040502050405020303" pitchFamily="18" charset="0"/>
                <a:cs typeface="Times New Roman" panose="02020603050405020304" pitchFamily="18" charset="0"/>
              </a:rPr>
              <a:t>RN Methodology </a:t>
            </a:r>
            <a:endParaRPr lang="en-US" dirty="0"/>
          </a:p>
        </p:txBody>
      </p:sp>
      <p:sp>
        <p:nvSpPr>
          <p:cNvPr id="3" name="Subtitle 2">
            <a:extLst>
              <a:ext uri="{FF2B5EF4-FFF2-40B4-BE49-F238E27FC236}">
                <a16:creationId xmlns:a16="http://schemas.microsoft.com/office/drawing/2014/main" id="{DA8AFAA9-633A-475C-B8ED-840A34F7294D}"/>
              </a:ext>
            </a:extLst>
          </p:cNvPr>
          <p:cNvSpPr>
            <a:spLocks noGrp="1"/>
          </p:cNvSpPr>
          <p:nvPr>
            <p:ph type="subTitle" idx="1"/>
          </p:nvPr>
        </p:nvSpPr>
        <p:spPr>
          <a:xfrm>
            <a:off x="6743700" y="1103870"/>
            <a:ext cx="4686299" cy="3822357"/>
          </a:xfrm>
        </p:spPr>
        <p:txBody>
          <a:bodyPr/>
          <a:lstStyle/>
          <a:p>
            <a:pPr marL="342900" marR="0" lvl="0" indent="-342900">
              <a:spcBef>
                <a:spcPts val="0"/>
              </a:spcBef>
              <a:spcAft>
                <a:spcPts val="0"/>
              </a:spcAft>
              <a:buFont typeface="Wingdings" panose="05000000000000000000" pitchFamily="2" charset="2"/>
              <a:buChar char=""/>
            </a:pPr>
            <a:r>
              <a:rPr lang="en-US" sz="1800" dirty="0">
                <a:effectLst/>
                <a:ea typeface="Georgia" panose="02040502050405020303" pitchFamily="18" charset="0"/>
                <a:cs typeface="Times New Roman" panose="02020603050405020304" pitchFamily="18" charset="0"/>
              </a:rPr>
              <a:t>The sample set and query set are used to adapt the parameters of the model during training by minimizing an objective function.</a:t>
            </a:r>
          </a:p>
          <a:p>
            <a:pPr marL="342900" marR="0" lvl="0" indent="-342900">
              <a:spcBef>
                <a:spcPts val="0"/>
              </a:spcBef>
              <a:spcAft>
                <a:spcPts val="0"/>
              </a:spcAft>
              <a:buFont typeface="Wingdings" panose="05000000000000000000" pitchFamily="2" charset="2"/>
              <a:buChar char=""/>
            </a:pPr>
            <a:endParaRPr lang="en-US" sz="1800" dirty="0">
              <a:ea typeface="Georgia" panose="02040502050405020303" pitchFamily="18" charset="0"/>
              <a:cs typeface="Times New Roman" panose="02020603050405020304" pitchFamily="18" charset="0"/>
            </a:endParaRPr>
          </a:p>
          <a:p>
            <a:pPr marL="342900" marR="0" lvl="0" indent="-342900">
              <a:spcBef>
                <a:spcPts val="0"/>
              </a:spcBef>
              <a:spcAft>
                <a:spcPts val="0"/>
              </a:spcAft>
              <a:buFont typeface="Wingdings" panose="05000000000000000000" pitchFamily="2" charset="2"/>
              <a:buChar char=""/>
            </a:pPr>
            <a:r>
              <a:rPr lang="en-US" sz="1800" dirty="0">
                <a:effectLst/>
                <a:ea typeface="Georgia" panose="02040502050405020303" pitchFamily="18" charset="0"/>
                <a:cs typeface="Times New Roman" panose="02020603050405020304" pitchFamily="18" charset="0"/>
              </a:rPr>
              <a:t>The sample set and the query set are selected from the training set to simulate the support and test sets.</a:t>
            </a:r>
          </a:p>
        </p:txBody>
      </p:sp>
    </p:spTree>
    <p:extLst>
      <p:ext uri="{BB962C8B-B14F-4D97-AF65-F5344CB8AC3E}">
        <p14:creationId xmlns:p14="http://schemas.microsoft.com/office/powerpoint/2010/main" val="4976068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A53D834-F1E2-4848-8093-D412A7B081AF}"/>
              </a:ext>
            </a:extLst>
          </p:cNvPr>
          <p:cNvSpPr>
            <a:spLocks noGrp="1"/>
          </p:cNvSpPr>
          <p:nvPr>
            <p:ph type="dt" sz="half" idx="10"/>
          </p:nvPr>
        </p:nvSpPr>
        <p:spPr>
          <a:xfrm>
            <a:off x="4676774" y="6356350"/>
            <a:ext cx="1695450" cy="365125"/>
          </a:xfrm>
        </p:spPr>
        <p:txBody>
          <a:bodyPr/>
          <a:lstStyle/>
          <a:p>
            <a:r>
              <a:rPr lang="en-US" dirty="0"/>
              <a:t>20XX</a:t>
            </a:r>
          </a:p>
        </p:txBody>
      </p:sp>
      <p:sp>
        <p:nvSpPr>
          <p:cNvPr id="5" name="Footer Placeholder 4">
            <a:extLst>
              <a:ext uri="{FF2B5EF4-FFF2-40B4-BE49-F238E27FC236}">
                <a16:creationId xmlns:a16="http://schemas.microsoft.com/office/drawing/2014/main" id="{3555A49C-96F4-440D-B89E-A0AE94F70108}"/>
              </a:ext>
            </a:extLst>
          </p:cNvPr>
          <p:cNvSpPr>
            <a:spLocks noGrp="1"/>
          </p:cNvSpPr>
          <p:nvPr>
            <p:ph type="ftr" sz="quarter" idx="11"/>
          </p:nvPr>
        </p:nvSpPr>
        <p:spPr>
          <a:xfrm>
            <a:off x="6743699" y="6356350"/>
            <a:ext cx="2543175" cy="365125"/>
          </a:xfrm>
        </p:spPr>
        <p:txBody>
          <a:bodyPr/>
          <a:lstStyle/>
          <a:p>
            <a:r>
              <a:rPr lang="en-US" dirty="0"/>
              <a:t>PRESENTATION TITLE</a:t>
            </a:r>
          </a:p>
        </p:txBody>
      </p:sp>
      <p:sp>
        <p:nvSpPr>
          <p:cNvPr id="6" name="Slide Number Placeholder 5">
            <a:extLst>
              <a:ext uri="{FF2B5EF4-FFF2-40B4-BE49-F238E27FC236}">
                <a16:creationId xmlns:a16="http://schemas.microsoft.com/office/drawing/2014/main" id="{F2A39FA3-9AE3-4689-A469-B7D2DFCCC2D9}"/>
              </a:ext>
            </a:extLst>
          </p:cNvPr>
          <p:cNvSpPr>
            <a:spLocks noGrp="1"/>
          </p:cNvSpPr>
          <p:nvPr>
            <p:ph type="sldNum" sz="quarter" idx="12"/>
          </p:nvPr>
        </p:nvSpPr>
        <p:spPr>
          <a:xfrm>
            <a:off x="9658350" y="6356350"/>
            <a:ext cx="1695450" cy="365125"/>
          </a:xfrm>
        </p:spPr>
        <p:txBody>
          <a:bodyPr/>
          <a:lstStyle/>
          <a:p>
            <a:fld id="{A49DFD55-3C28-40EF-9E31-A92D2E4017FF}" type="slidenum">
              <a:rPr lang="en-US" smtClean="0"/>
              <a:pPr/>
              <a:t>7</a:t>
            </a:fld>
            <a:endParaRPr lang="en-US" dirty="0"/>
          </a:p>
        </p:txBody>
      </p:sp>
      <p:sp>
        <p:nvSpPr>
          <p:cNvPr id="9" name="TextBox 8">
            <a:extLst>
              <a:ext uri="{FF2B5EF4-FFF2-40B4-BE49-F238E27FC236}">
                <a16:creationId xmlns:a16="http://schemas.microsoft.com/office/drawing/2014/main" id="{FFF7925D-82F0-4FB3-AC0E-48786A02965E}"/>
              </a:ext>
            </a:extLst>
          </p:cNvPr>
          <p:cNvSpPr txBox="1"/>
          <p:nvPr/>
        </p:nvSpPr>
        <p:spPr>
          <a:xfrm>
            <a:off x="5689097" y="1318055"/>
            <a:ext cx="4130405" cy="3970318"/>
          </a:xfrm>
          <a:prstGeom prst="rect">
            <a:avLst/>
          </a:prstGeom>
          <a:noFill/>
        </p:spPr>
        <p:txBody>
          <a:bodyPr wrap="square" rtlCol="0">
            <a:spAutoFit/>
          </a:bodyPr>
          <a:lstStyle/>
          <a:p>
            <a:pPr marL="285750" indent="-285750">
              <a:buFont typeface="Wingdings" panose="05000000000000000000" pitchFamily="2" charset="2"/>
              <a:buChar char="Ø"/>
            </a:pPr>
            <a:r>
              <a:rPr lang="en-US" dirty="0"/>
              <a:t>The labels in the training dataset are disjoint from those in Test/Support dataset.</a:t>
            </a:r>
          </a:p>
          <a:p>
            <a:pPr marL="285750" indent="-285750">
              <a:buFont typeface="Wingdings" panose="05000000000000000000" pitchFamily="2" charset="2"/>
              <a:buChar char="Ø"/>
            </a:pPr>
            <a:r>
              <a:rPr lang="en-US" dirty="0"/>
              <a:t>Test/support sets share the same labels.</a:t>
            </a:r>
          </a:p>
          <a:p>
            <a:pPr marL="285750" indent="-285750">
              <a:buFont typeface="Wingdings" panose="05000000000000000000" pitchFamily="2" charset="2"/>
              <a:buChar char="Ø"/>
            </a:pPr>
            <a:r>
              <a:rPr lang="en-US" dirty="0"/>
              <a:t>During training an episode is selected from the training data to simulate the Test/Support dataset.</a:t>
            </a:r>
          </a:p>
          <a:p>
            <a:pPr marL="285750" indent="-285750">
              <a:buFont typeface="Wingdings" panose="05000000000000000000" pitchFamily="2" charset="2"/>
              <a:buChar char="Ø"/>
            </a:pPr>
            <a:r>
              <a:rPr lang="en-US" dirty="0"/>
              <a:t>The Sample data within the episode contains C classes each with K examples.</a:t>
            </a:r>
          </a:p>
          <a:p>
            <a:pPr marL="285750" indent="-285750">
              <a:buFont typeface="Wingdings" panose="05000000000000000000" pitchFamily="2" charset="2"/>
              <a:buChar char="Ø"/>
            </a:pPr>
            <a:r>
              <a:rPr lang="en-US" dirty="0"/>
              <a:t>The Query data with the episode is also selected from the same C classes as the Sample data.</a:t>
            </a:r>
          </a:p>
        </p:txBody>
      </p:sp>
      <p:sp>
        <p:nvSpPr>
          <p:cNvPr id="11" name="TextBox 10">
            <a:extLst>
              <a:ext uri="{FF2B5EF4-FFF2-40B4-BE49-F238E27FC236}">
                <a16:creationId xmlns:a16="http://schemas.microsoft.com/office/drawing/2014/main" id="{B0F0F083-1C49-4B69-B108-7F08C31A17EA}"/>
              </a:ext>
            </a:extLst>
          </p:cNvPr>
          <p:cNvSpPr txBox="1"/>
          <p:nvPr/>
        </p:nvSpPr>
        <p:spPr>
          <a:xfrm>
            <a:off x="6743569" y="671724"/>
            <a:ext cx="1932260" cy="646331"/>
          </a:xfrm>
          <a:prstGeom prst="rect">
            <a:avLst/>
          </a:prstGeom>
          <a:noFill/>
        </p:spPr>
        <p:txBody>
          <a:bodyPr wrap="none" rtlCol="0">
            <a:spAutoFit/>
          </a:bodyPr>
          <a:lstStyle/>
          <a:p>
            <a:r>
              <a:rPr lang="en-US" dirty="0"/>
              <a:t>Dataset Structure</a:t>
            </a:r>
          </a:p>
          <a:p>
            <a:endParaRPr lang="en-US" dirty="0"/>
          </a:p>
        </p:txBody>
      </p:sp>
      <p:pic>
        <p:nvPicPr>
          <p:cNvPr id="13" name="Picture 12">
            <a:extLst>
              <a:ext uri="{FF2B5EF4-FFF2-40B4-BE49-F238E27FC236}">
                <a16:creationId xmlns:a16="http://schemas.microsoft.com/office/drawing/2014/main" id="{9CC77D0C-848C-4F48-B1E1-6726041A8280}"/>
              </a:ext>
            </a:extLst>
          </p:cNvPr>
          <p:cNvPicPr>
            <a:picLocks noChangeAspect="1"/>
          </p:cNvPicPr>
          <p:nvPr/>
        </p:nvPicPr>
        <p:blipFill>
          <a:blip r:embed="rId2"/>
          <a:stretch>
            <a:fillRect/>
          </a:stretch>
        </p:blipFill>
        <p:spPr>
          <a:xfrm>
            <a:off x="746262" y="1369541"/>
            <a:ext cx="4191585" cy="3658111"/>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Tree>
    <p:extLst>
      <p:ext uri="{BB962C8B-B14F-4D97-AF65-F5344CB8AC3E}">
        <p14:creationId xmlns:p14="http://schemas.microsoft.com/office/powerpoint/2010/main" val="7443797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A53D834-F1E2-4848-8093-D412A7B081AF}"/>
              </a:ext>
            </a:extLst>
          </p:cNvPr>
          <p:cNvSpPr>
            <a:spLocks noGrp="1"/>
          </p:cNvSpPr>
          <p:nvPr>
            <p:ph type="dt" sz="half" idx="10"/>
          </p:nvPr>
        </p:nvSpPr>
        <p:spPr>
          <a:xfrm>
            <a:off x="4676774" y="6356350"/>
            <a:ext cx="1695450" cy="365125"/>
          </a:xfrm>
        </p:spPr>
        <p:txBody>
          <a:bodyPr/>
          <a:lstStyle/>
          <a:p>
            <a:r>
              <a:rPr lang="en-US" dirty="0"/>
              <a:t>20XX</a:t>
            </a:r>
          </a:p>
        </p:txBody>
      </p:sp>
      <p:sp>
        <p:nvSpPr>
          <p:cNvPr id="5" name="Footer Placeholder 4">
            <a:extLst>
              <a:ext uri="{FF2B5EF4-FFF2-40B4-BE49-F238E27FC236}">
                <a16:creationId xmlns:a16="http://schemas.microsoft.com/office/drawing/2014/main" id="{3555A49C-96F4-440D-B89E-A0AE94F70108}"/>
              </a:ext>
            </a:extLst>
          </p:cNvPr>
          <p:cNvSpPr>
            <a:spLocks noGrp="1"/>
          </p:cNvSpPr>
          <p:nvPr>
            <p:ph type="ftr" sz="quarter" idx="11"/>
          </p:nvPr>
        </p:nvSpPr>
        <p:spPr>
          <a:xfrm>
            <a:off x="6743699" y="6356350"/>
            <a:ext cx="2543175" cy="365125"/>
          </a:xfrm>
        </p:spPr>
        <p:txBody>
          <a:bodyPr/>
          <a:lstStyle/>
          <a:p>
            <a:r>
              <a:rPr lang="en-US" dirty="0"/>
              <a:t>PRESENTATION TITLE</a:t>
            </a:r>
          </a:p>
        </p:txBody>
      </p:sp>
      <p:sp>
        <p:nvSpPr>
          <p:cNvPr id="6" name="Slide Number Placeholder 5">
            <a:extLst>
              <a:ext uri="{FF2B5EF4-FFF2-40B4-BE49-F238E27FC236}">
                <a16:creationId xmlns:a16="http://schemas.microsoft.com/office/drawing/2014/main" id="{F2A39FA3-9AE3-4689-A469-B7D2DFCCC2D9}"/>
              </a:ext>
            </a:extLst>
          </p:cNvPr>
          <p:cNvSpPr>
            <a:spLocks noGrp="1"/>
          </p:cNvSpPr>
          <p:nvPr>
            <p:ph type="sldNum" sz="quarter" idx="12"/>
          </p:nvPr>
        </p:nvSpPr>
        <p:spPr>
          <a:xfrm>
            <a:off x="9658350" y="6356350"/>
            <a:ext cx="1695450" cy="365125"/>
          </a:xfrm>
        </p:spPr>
        <p:txBody>
          <a:bodyPr/>
          <a:lstStyle/>
          <a:p>
            <a:fld id="{A49DFD55-3C28-40EF-9E31-A92D2E4017FF}" type="slidenum">
              <a:rPr lang="en-US" smtClean="0"/>
              <a:pPr/>
              <a:t>8</a:t>
            </a:fld>
            <a:endParaRPr lang="en-US" dirty="0"/>
          </a:p>
        </p:txBody>
      </p:sp>
      <p:sp>
        <p:nvSpPr>
          <p:cNvPr id="11" name="TextBox 10">
            <a:extLst>
              <a:ext uri="{FF2B5EF4-FFF2-40B4-BE49-F238E27FC236}">
                <a16:creationId xmlns:a16="http://schemas.microsoft.com/office/drawing/2014/main" id="{B0F0F083-1C49-4B69-B108-7F08C31A17EA}"/>
              </a:ext>
            </a:extLst>
          </p:cNvPr>
          <p:cNvSpPr txBox="1"/>
          <p:nvPr/>
        </p:nvSpPr>
        <p:spPr>
          <a:xfrm>
            <a:off x="4350380" y="500515"/>
            <a:ext cx="2858668" cy="646331"/>
          </a:xfrm>
          <a:prstGeom prst="rect">
            <a:avLst/>
          </a:prstGeom>
          <a:noFill/>
        </p:spPr>
        <p:txBody>
          <a:bodyPr wrap="none" rtlCol="0">
            <a:spAutoFit/>
          </a:bodyPr>
          <a:lstStyle/>
          <a:p>
            <a:r>
              <a:rPr lang="en-US" dirty="0"/>
              <a:t>RN Module Transformation</a:t>
            </a:r>
          </a:p>
          <a:p>
            <a:endParaRPr lang="en-US" dirty="0"/>
          </a:p>
        </p:txBody>
      </p:sp>
      <p:pic>
        <p:nvPicPr>
          <p:cNvPr id="3" name="Picture 2">
            <a:extLst>
              <a:ext uri="{FF2B5EF4-FFF2-40B4-BE49-F238E27FC236}">
                <a16:creationId xmlns:a16="http://schemas.microsoft.com/office/drawing/2014/main" id="{141A8B6B-C8BB-43A7-909D-675D26FBE9F7}"/>
              </a:ext>
            </a:extLst>
          </p:cNvPr>
          <p:cNvPicPr>
            <a:picLocks noChangeAspect="1"/>
          </p:cNvPicPr>
          <p:nvPr/>
        </p:nvPicPr>
        <p:blipFill>
          <a:blip r:embed="rId2"/>
          <a:stretch>
            <a:fillRect/>
          </a:stretch>
        </p:blipFill>
        <p:spPr>
          <a:xfrm>
            <a:off x="1785010" y="900309"/>
            <a:ext cx="7873340" cy="530278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8181708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E5F11-B7B9-4B80-8C6A-A8A7A7190B77}"/>
              </a:ext>
            </a:extLst>
          </p:cNvPr>
          <p:cNvSpPr>
            <a:spLocks noGrp="1"/>
          </p:cNvSpPr>
          <p:nvPr>
            <p:ph type="ctrTitle"/>
          </p:nvPr>
        </p:nvSpPr>
        <p:spPr>
          <a:xfrm>
            <a:off x="6936259" y="551935"/>
            <a:ext cx="4218185" cy="599315"/>
          </a:xfrm>
        </p:spPr>
        <p:txBody>
          <a:bodyPr/>
          <a:lstStyle/>
          <a:p>
            <a:r>
              <a:rPr lang="en-US" sz="1800" dirty="0">
                <a:effectLst/>
                <a:latin typeface="Georgia" panose="02040502050405020303" pitchFamily="18" charset="0"/>
                <a:ea typeface="Georgia" panose="02040502050405020303" pitchFamily="18" charset="0"/>
                <a:cs typeface="Times New Roman" panose="02020603050405020304" pitchFamily="18" charset="0"/>
              </a:rPr>
              <a:t>RN Classification example</a:t>
            </a:r>
            <a:br>
              <a:rPr lang="en-US" sz="1800" dirty="0">
                <a:effectLst/>
                <a:latin typeface="Georgia" panose="02040502050405020303" pitchFamily="18" charset="0"/>
                <a:ea typeface="Georgia" panose="02040502050405020303" pitchFamily="18" charset="0"/>
                <a:cs typeface="Times New Roman" panose="02020603050405020304" pitchFamily="18" charset="0"/>
              </a:rPr>
            </a:br>
            <a:r>
              <a:rPr lang="en-US" sz="1800" dirty="0">
                <a:effectLst/>
                <a:latin typeface="Ebrima" panose="02000000000000000000" pitchFamily="2" charset="0"/>
                <a:ea typeface="Ebrima" panose="02000000000000000000" pitchFamily="2" charset="0"/>
                <a:cs typeface="Ebrima" panose="02000000000000000000" pitchFamily="2" charset="0"/>
              </a:rPr>
              <a:t>5 way 1 shot</a:t>
            </a:r>
            <a:endParaRPr lang="en-US" dirty="0">
              <a:latin typeface="Ebrima" panose="02000000000000000000" pitchFamily="2" charset="0"/>
              <a:ea typeface="Ebrima" panose="02000000000000000000" pitchFamily="2" charset="0"/>
              <a:cs typeface="Ebrima" panose="02000000000000000000" pitchFamily="2" charset="0"/>
            </a:endParaRPr>
          </a:p>
        </p:txBody>
      </p:sp>
      <p:sp>
        <p:nvSpPr>
          <p:cNvPr id="3" name="Subtitle 2">
            <a:extLst>
              <a:ext uri="{FF2B5EF4-FFF2-40B4-BE49-F238E27FC236}">
                <a16:creationId xmlns:a16="http://schemas.microsoft.com/office/drawing/2014/main" id="{DA8AFAA9-633A-475C-B8ED-840A34F7294D}"/>
              </a:ext>
            </a:extLst>
          </p:cNvPr>
          <p:cNvSpPr>
            <a:spLocks noGrp="1"/>
          </p:cNvSpPr>
          <p:nvPr>
            <p:ph type="subTitle" idx="1"/>
          </p:nvPr>
        </p:nvSpPr>
        <p:spPr>
          <a:xfrm>
            <a:off x="6737985" y="1383957"/>
            <a:ext cx="4686299" cy="3822357"/>
          </a:xfrm>
        </p:spPr>
        <p:txBody>
          <a:bodyPr/>
          <a:lstStyle/>
          <a:p>
            <a:pPr marL="342900" marR="0" lvl="0" indent="-342900">
              <a:spcBef>
                <a:spcPts val="0"/>
              </a:spcBef>
              <a:spcAft>
                <a:spcPts val="0"/>
              </a:spcAft>
              <a:buFont typeface="Wingdings" panose="05000000000000000000" pitchFamily="2" charset="2"/>
              <a:buChar char=""/>
            </a:pPr>
            <a:r>
              <a:rPr lang="en-US" sz="1800" dirty="0">
                <a:effectLst/>
                <a:ea typeface="Georgia" panose="02040502050405020303" pitchFamily="18" charset="0"/>
                <a:cs typeface="Times New Roman" panose="02020603050405020304" pitchFamily="18" charset="0"/>
              </a:rPr>
              <a:t>The sample set has C=5 classes each represented by K=1 example.</a:t>
            </a:r>
          </a:p>
          <a:p>
            <a:pPr marR="0" lvl="0">
              <a:spcBef>
                <a:spcPts val="0"/>
              </a:spcBef>
              <a:spcAft>
                <a:spcPts val="0"/>
              </a:spcAft>
            </a:pPr>
            <a:endParaRPr lang="en-US" sz="1800" dirty="0">
              <a:effectLst/>
              <a:ea typeface="Georgia" panose="02040502050405020303" pitchFamily="18" charset="0"/>
              <a:cs typeface="Times New Roman" panose="02020603050405020304" pitchFamily="18" charset="0"/>
            </a:endParaRPr>
          </a:p>
          <a:p>
            <a:pPr marL="342900" marR="0" lvl="0" indent="-342900">
              <a:spcBef>
                <a:spcPts val="0"/>
              </a:spcBef>
              <a:spcAft>
                <a:spcPts val="0"/>
              </a:spcAft>
              <a:buFont typeface="Wingdings" panose="05000000000000000000" pitchFamily="2" charset="2"/>
              <a:buChar char=""/>
            </a:pPr>
            <a:r>
              <a:rPr lang="en-US" sz="1800" dirty="0">
                <a:effectLst/>
                <a:ea typeface="Georgia" panose="02040502050405020303" pitchFamily="18" charset="0"/>
                <a:cs typeface="Times New Roman" panose="02020603050405020304" pitchFamily="18" charset="0"/>
              </a:rPr>
              <a:t>The query set has 1 example.</a:t>
            </a:r>
          </a:p>
          <a:p>
            <a:pPr marL="342900" marR="0" lvl="0" indent="-342900">
              <a:spcBef>
                <a:spcPts val="0"/>
              </a:spcBef>
              <a:spcAft>
                <a:spcPts val="0"/>
              </a:spcAft>
              <a:buFont typeface="Wingdings" panose="05000000000000000000" pitchFamily="2" charset="2"/>
              <a:buChar char=""/>
            </a:pPr>
            <a:endParaRPr lang="en-US" sz="1800" dirty="0">
              <a:effectLst/>
              <a:ea typeface="Georgia" panose="02040502050405020303" pitchFamily="18" charset="0"/>
              <a:cs typeface="Times New Roman" panose="02020603050405020304" pitchFamily="18" charset="0"/>
            </a:endParaRPr>
          </a:p>
          <a:p>
            <a:pPr marL="342900" marR="0" lvl="0" indent="-342900">
              <a:spcBef>
                <a:spcPts val="0"/>
              </a:spcBef>
              <a:spcAft>
                <a:spcPts val="0"/>
              </a:spcAft>
              <a:buFont typeface="Wingdings" panose="05000000000000000000" pitchFamily="2" charset="2"/>
              <a:buChar char=""/>
            </a:pPr>
            <a:r>
              <a:rPr lang="en-US" sz="1800" dirty="0">
                <a:effectLst/>
                <a:ea typeface="Georgia" panose="02040502050405020303" pitchFamily="18" charset="0"/>
                <a:cs typeface="Times New Roman" panose="02020603050405020304" pitchFamily="18" charset="0"/>
              </a:rPr>
              <a:t>All images are embedded into a vector space. Each sample vector is then appended with the query vector.</a:t>
            </a:r>
          </a:p>
          <a:p>
            <a:pPr marL="342900" marR="0" lvl="0" indent="-342900">
              <a:spcBef>
                <a:spcPts val="0"/>
              </a:spcBef>
              <a:spcAft>
                <a:spcPts val="0"/>
              </a:spcAft>
              <a:buFont typeface="Wingdings" panose="05000000000000000000" pitchFamily="2" charset="2"/>
              <a:buChar char=""/>
            </a:pPr>
            <a:endParaRPr lang="en-US" sz="1800" dirty="0">
              <a:ea typeface="Georgia" panose="02040502050405020303" pitchFamily="18" charset="0"/>
              <a:cs typeface="Times New Roman" panose="02020603050405020304" pitchFamily="18" charset="0"/>
            </a:endParaRPr>
          </a:p>
          <a:p>
            <a:pPr marL="342900" marR="0" lvl="0" indent="-342900">
              <a:spcBef>
                <a:spcPts val="0"/>
              </a:spcBef>
              <a:spcAft>
                <a:spcPts val="0"/>
              </a:spcAft>
              <a:buFont typeface="Wingdings" panose="05000000000000000000" pitchFamily="2" charset="2"/>
              <a:buChar char=""/>
            </a:pPr>
            <a:r>
              <a:rPr lang="en-US" sz="1800" dirty="0">
                <a:effectLst/>
                <a:ea typeface="Georgia" panose="02040502050405020303" pitchFamily="18" charset="0"/>
                <a:cs typeface="Times New Roman" panose="02020603050405020304" pitchFamily="18" charset="0"/>
              </a:rPr>
              <a:t>The relation score is computed for each combined vector.</a:t>
            </a:r>
          </a:p>
          <a:p>
            <a:pPr marL="342900" marR="0" lvl="0" indent="-342900">
              <a:spcBef>
                <a:spcPts val="0"/>
              </a:spcBef>
              <a:spcAft>
                <a:spcPts val="0"/>
              </a:spcAft>
              <a:buFont typeface="Wingdings" panose="05000000000000000000" pitchFamily="2" charset="2"/>
              <a:buChar char=""/>
            </a:pPr>
            <a:endParaRPr lang="en-US" sz="1800" dirty="0">
              <a:ea typeface="Georgia" panose="02040502050405020303" pitchFamily="18" charset="0"/>
              <a:cs typeface="Times New Roman" panose="02020603050405020304" pitchFamily="18" charset="0"/>
            </a:endParaRPr>
          </a:p>
          <a:p>
            <a:pPr marL="342900" marR="0" lvl="0" indent="-342900">
              <a:spcBef>
                <a:spcPts val="0"/>
              </a:spcBef>
              <a:spcAft>
                <a:spcPts val="0"/>
              </a:spcAft>
              <a:buFont typeface="Wingdings" panose="05000000000000000000" pitchFamily="2" charset="2"/>
              <a:buChar char=""/>
            </a:pPr>
            <a:r>
              <a:rPr lang="en-US" sz="1800" dirty="0">
                <a:effectLst/>
                <a:ea typeface="Georgia" panose="02040502050405020303" pitchFamily="18" charset="0"/>
                <a:cs typeface="Times New Roman" panose="02020603050405020304" pitchFamily="18" charset="0"/>
              </a:rPr>
              <a:t>The relation score vector is 1-hot encoded to produce the best match.</a:t>
            </a:r>
          </a:p>
        </p:txBody>
      </p:sp>
      <p:pic>
        <p:nvPicPr>
          <p:cNvPr id="5" name="Picture 4">
            <a:extLst>
              <a:ext uri="{FF2B5EF4-FFF2-40B4-BE49-F238E27FC236}">
                <a16:creationId xmlns:a16="http://schemas.microsoft.com/office/drawing/2014/main" id="{D2695BA7-0B48-4027-ACFA-9C5F147B16D1}"/>
              </a:ext>
            </a:extLst>
          </p:cNvPr>
          <p:cNvPicPr>
            <a:picLocks noChangeAspect="1"/>
          </p:cNvPicPr>
          <p:nvPr/>
        </p:nvPicPr>
        <p:blipFill>
          <a:blip r:embed="rId2"/>
          <a:stretch>
            <a:fillRect/>
          </a:stretch>
        </p:blipFill>
        <p:spPr>
          <a:xfrm>
            <a:off x="232145" y="1267590"/>
            <a:ext cx="6373114" cy="3791479"/>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3100682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1362075" y="612949"/>
            <a:ext cx="5111750" cy="320675"/>
          </a:xfrm>
        </p:spPr>
        <p:txBody>
          <a:bodyPr/>
          <a:lstStyle/>
          <a:p>
            <a:r>
              <a:rPr lang="en-US" sz="1800" dirty="0">
                <a:effectLst/>
                <a:latin typeface="Georgia" panose="02040502050405020303" pitchFamily="18" charset="0"/>
                <a:ea typeface="Georgia" panose="02040502050405020303" pitchFamily="18" charset="0"/>
                <a:cs typeface="Times New Roman" panose="02020603050405020304" pitchFamily="18" charset="0"/>
              </a:rPr>
              <a:t>RN - Network Architecture</a:t>
            </a:r>
            <a:endParaRPr lang="en-US" dirty="0"/>
          </a:p>
        </p:txBody>
      </p:sp>
      <p:sp>
        <p:nvSpPr>
          <p:cNvPr id="3" name="Text Placeholder 2">
            <a:extLst>
              <a:ext uri="{FF2B5EF4-FFF2-40B4-BE49-F238E27FC236}">
                <a16:creationId xmlns:a16="http://schemas.microsoft.com/office/drawing/2014/main" id="{9D5232F9-FD00-464A-9F17-619C91AEF8F3}"/>
              </a:ext>
            </a:extLst>
          </p:cNvPr>
          <p:cNvSpPr>
            <a:spLocks noGrp="1"/>
          </p:cNvSpPr>
          <p:nvPr>
            <p:ph type="body" idx="1"/>
          </p:nvPr>
        </p:nvSpPr>
        <p:spPr>
          <a:xfrm>
            <a:off x="838200" y="1285102"/>
            <a:ext cx="5635625" cy="5071247"/>
          </a:xfrm>
        </p:spPr>
        <p:txBody>
          <a:bodyPr>
            <a:normAutofit fontScale="92500" lnSpcReduction="20000"/>
          </a:bodyPr>
          <a:lstStyle/>
          <a:p>
            <a:pPr marL="285750" marR="0" indent="-285750" algn="just">
              <a:spcBef>
                <a:spcPts val="0"/>
              </a:spcBef>
              <a:spcAft>
                <a:spcPts val="0"/>
              </a:spcAft>
              <a:buFont typeface="Wingdings" panose="05000000000000000000" pitchFamily="2" charset="2"/>
              <a:buChar char="Ø"/>
            </a:pPr>
            <a:r>
              <a:rPr lang="en-US" sz="1800" dirty="0">
                <a:effectLst/>
                <a:ea typeface="Georgia" panose="02040502050405020303" pitchFamily="18" charset="0"/>
                <a:cs typeface="Times New Roman" panose="02020603050405020304" pitchFamily="18" charset="0"/>
              </a:rPr>
              <a:t>Images enter the network on the bottom of the block diagram on the right. Omniglot images are 32x32monochrome. Mini ImageNet images are 32x32x3 RGB.</a:t>
            </a:r>
          </a:p>
          <a:p>
            <a:pPr marR="0" algn="just">
              <a:spcBef>
                <a:spcPts val="0"/>
              </a:spcBef>
              <a:spcAft>
                <a:spcPts val="0"/>
              </a:spcAft>
            </a:pPr>
            <a:endParaRPr lang="en-US" sz="1800" dirty="0">
              <a:effectLst/>
              <a:ea typeface="Georgia" panose="02040502050405020303" pitchFamily="18" charset="0"/>
              <a:cs typeface="Times New Roman" panose="02020603050405020304" pitchFamily="18" charset="0"/>
            </a:endParaRPr>
          </a:p>
          <a:p>
            <a:pPr marL="285750" marR="0" indent="-285750" algn="just">
              <a:spcBef>
                <a:spcPts val="0"/>
              </a:spcBef>
              <a:spcAft>
                <a:spcPts val="0"/>
              </a:spcAft>
              <a:buFont typeface="Wingdings" panose="05000000000000000000" pitchFamily="2" charset="2"/>
              <a:buChar char="Ø"/>
            </a:pPr>
            <a:r>
              <a:rPr lang="en-US" sz="1800" dirty="0">
                <a:effectLst/>
                <a:ea typeface="Georgia" panose="02040502050405020303" pitchFamily="18" charset="0"/>
                <a:cs typeface="Times New Roman" panose="02020603050405020304" pitchFamily="18" charset="0"/>
              </a:rPr>
              <a:t>The convolutional blocks contain 64 3x3 filters. After convolution a batch norm and RelU are performed.</a:t>
            </a:r>
          </a:p>
          <a:p>
            <a:pPr marR="0" algn="just">
              <a:spcBef>
                <a:spcPts val="0"/>
              </a:spcBef>
              <a:spcAft>
                <a:spcPts val="0"/>
              </a:spcAft>
            </a:pPr>
            <a:endParaRPr lang="en-US" sz="1800" dirty="0">
              <a:effectLst/>
              <a:ea typeface="Georgia" panose="02040502050405020303" pitchFamily="18" charset="0"/>
              <a:cs typeface="Times New Roman" panose="02020603050405020304" pitchFamily="18" charset="0"/>
            </a:endParaRPr>
          </a:p>
          <a:p>
            <a:pPr marL="285750" marR="0" indent="-285750" algn="just">
              <a:spcBef>
                <a:spcPts val="0"/>
              </a:spcBef>
              <a:spcAft>
                <a:spcPts val="0"/>
              </a:spcAft>
              <a:buFont typeface="Wingdings" panose="05000000000000000000" pitchFamily="2" charset="2"/>
              <a:buChar char="Ø"/>
            </a:pPr>
            <a:r>
              <a:rPr lang="en-US" sz="1800" dirty="0">
                <a:effectLst/>
                <a:ea typeface="Georgia" panose="02040502050405020303" pitchFamily="18" charset="0"/>
                <a:cs typeface="Times New Roman" panose="02020603050405020304" pitchFamily="18" charset="0"/>
              </a:rPr>
              <a:t>The Embedding module consists of the four bottom blocks prior to feature concatenation.</a:t>
            </a:r>
          </a:p>
          <a:p>
            <a:pPr marR="0" algn="just">
              <a:spcBef>
                <a:spcPts val="0"/>
              </a:spcBef>
              <a:spcAft>
                <a:spcPts val="0"/>
              </a:spcAft>
            </a:pPr>
            <a:endParaRPr lang="en-US" sz="1800" dirty="0">
              <a:effectLst/>
              <a:ea typeface="Georgia" panose="02040502050405020303" pitchFamily="18" charset="0"/>
              <a:cs typeface="Times New Roman" panose="02020603050405020304" pitchFamily="18" charset="0"/>
            </a:endParaRPr>
          </a:p>
          <a:p>
            <a:pPr marL="285750" marR="0" indent="-285750" algn="just">
              <a:spcBef>
                <a:spcPts val="0"/>
              </a:spcBef>
              <a:spcAft>
                <a:spcPts val="0"/>
              </a:spcAft>
              <a:buFont typeface="Wingdings" panose="05000000000000000000" pitchFamily="2" charset="2"/>
              <a:buChar char="Ø"/>
            </a:pPr>
            <a:r>
              <a:rPr lang="en-US" sz="1800" dirty="0">
                <a:effectLst/>
                <a:ea typeface="Georgia" panose="02040502050405020303" pitchFamily="18" charset="0"/>
                <a:cs typeface="Times New Roman" panose="02020603050405020304" pitchFamily="18" charset="0"/>
              </a:rPr>
              <a:t>The Relation module are the block following feature concatenation.</a:t>
            </a:r>
          </a:p>
          <a:p>
            <a:pPr marR="0" algn="just">
              <a:spcBef>
                <a:spcPts val="0"/>
              </a:spcBef>
              <a:spcAft>
                <a:spcPts val="0"/>
              </a:spcAft>
            </a:pPr>
            <a:endParaRPr lang="en-US" sz="1800" dirty="0">
              <a:effectLst/>
              <a:ea typeface="Georgia" panose="02040502050405020303" pitchFamily="18" charset="0"/>
              <a:cs typeface="Times New Roman" panose="02020603050405020304" pitchFamily="18" charset="0"/>
            </a:endParaRPr>
          </a:p>
          <a:p>
            <a:pPr marL="285750" marR="0" indent="-285750" algn="just">
              <a:spcBef>
                <a:spcPts val="0"/>
              </a:spcBef>
              <a:spcAft>
                <a:spcPts val="0"/>
              </a:spcAft>
              <a:buFont typeface="Wingdings" panose="05000000000000000000" pitchFamily="2" charset="2"/>
              <a:buChar char="Ø"/>
            </a:pPr>
            <a:r>
              <a:rPr lang="en-US" sz="1800" dirty="0">
                <a:effectLst/>
                <a:ea typeface="Georgia" panose="02040502050405020303" pitchFamily="18" charset="0"/>
                <a:cs typeface="Times New Roman" panose="02020603050405020304" pitchFamily="18" charset="0"/>
              </a:rPr>
              <a:t>The size of the last 2x2 max-pool layer is H=64 for Omniglot and H=64*3*3 for mini ImageNet.</a:t>
            </a:r>
          </a:p>
          <a:p>
            <a:pPr marR="0" algn="just">
              <a:spcBef>
                <a:spcPts val="0"/>
              </a:spcBef>
              <a:spcAft>
                <a:spcPts val="0"/>
              </a:spcAft>
            </a:pPr>
            <a:endParaRPr lang="en-US" sz="1800" dirty="0">
              <a:effectLst/>
              <a:ea typeface="Georgia" panose="02040502050405020303" pitchFamily="18" charset="0"/>
              <a:cs typeface="Times New Roman" panose="02020603050405020304" pitchFamily="18" charset="0"/>
            </a:endParaRPr>
          </a:p>
          <a:p>
            <a:pPr marL="285750" marR="0" indent="-285750" algn="just">
              <a:spcBef>
                <a:spcPts val="0"/>
              </a:spcBef>
              <a:spcAft>
                <a:spcPts val="0"/>
              </a:spcAft>
              <a:buFont typeface="Wingdings" panose="05000000000000000000" pitchFamily="2" charset="2"/>
              <a:buChar char="Ø"/>
            </a:pPr>
            <a:r>
              <a:rPr lang="en-US" sz="1800" dirty="0">
                <a:effectLst/>
                <a:ea typeface="Georgia" panose="02040502050405020303" pitchFamily="18" charset="0"/>
                <a:cs typeface="Times New Roman" panose="02020603050405020304" pitchFamily="18" charset="0"/>
              </a:rPr>
              <a:t>The next to last fully connected weights are Hx8 followed by a RelU.</a:t>
            </a:r>
          </a:p>
          <a:p>
            <a:pPr marR="0" algn="just">
              <a:spcBef>
                <a:spcPts val="0"/>
              </a:spcBef>
              <a:spcAft>
                <a:spcPts val="0"/>
              </a:spcAft>
            </a:pPr>
            <a:endParaRPr lang="en-US" sz="1800" dirty="0">
              <a:effectLst/>
              <a:ea typeface="Georgia" panose="02040502050405020303" pitchFamily="18" charset="0"/>
              <a:cs typeface="Times New Roman" panose="02020603050405020304" pitchFamily="18" charset="0"/>
            </a:endParaRPr>
          </a:p>
          <a:p>
            <a:pPr marL="285750" marR="0" indent="-285750" algn="just">
              <a:spcBef>
                <a:spcPts val="0"/>
              </a:spcBef>
              <a:spcAft>
                <a:spcPts val="0"/>
              </a:spcAft>
              <a:buFont typeface="Wingdings" panose="05000000000000000000" pitchFamily="2" charset="2"/>
              <a:buChar char="Ø"/>
            </a:pPr>
            <a:r>
              <a:rPr lang="en-US" sz="1800" dirty="0">
                <a:effectLst/>
                <a:ea typeface="Georgia" panose="02040502050405020303" pitchFamily="18" charset="0"/>
                <a:cs typeface="Times New Roman" panose="02020603050405020304" pitchFamily="18" charset="0"/>
              </a:rPr>
              <a:t>The last fully connected weights are 8x1 followed by a sigmoid.</a:t>
            </a:r>
          </a:p>
        </p:txBody>
      </p:sp>
      <p:sp>
        <p:nvSpPr>
          <p:cNvPr id="4" name="Date Placeholder 3">
            <a:extLst>
              <a:ext uri="{FF2B5EF4-FFF2-40B4-BE49-F238E27FC236}">
                <a16:creationId xmlns:a16="http://schemas.microsoft.com/office/drawing/2014/main" id="{70E12647-CCB2-45E2-A9CB-A868F490497E}"/>
              </a:ext>
            </a:extLst>
          </p:cNvPr>
          <p:cNvSpPr>
            <a:spLocks noGrp="1"/>
          </p:cNvSpPr>
          <p:nvPr>
            <p:ph type="dt" sz="half" idx="10"/>
          </p:nvPr>
        </p:nvSpPr>
        <p:spPr>
          <a:xfrm>
            <a:off x="838200" y="6356350"/>
            <a:ext cx="1219200" cy="365125"/>
          </a:xfrm>
        </p:spPr>
        <p:txBody>
          <a:bodyPr/>
          <a:lstStyle/>
          <a:p>
            <a:r>
              <a:rPr lang="en-US" dirty="0"/>
              <a:t>20XX</a:t>
            </a:r>
          </a:p>
        </p:txBody>
      </p:sp>
      <p:sp>
        <p:nvSpPr>
          <p:cNvPr id="5" name="Footer Placeholder 4">
            <a:extLst>
              <a:ext uri="{FF2B5EF4-FFF2-40B4-BE49-F238E27FC236}">
                <a16:creationId xmlns:a16="http://schemas.microsoft.com/office/drawing/2014/main" id="{8D51ED20-04D4-4894-B0C2-9C541A61A734}"/>
              </a:ext>
            </a:extLst>
          </p:cNvPr>
          <p:cNvSpPr>
            <a:spLocks noGrp="1"/>
          </p:cNvSpPr>
          <p:nvPr>
            <p:ph type="ftr" sz="quarter" idx="11"/>
          </p:nvPr>
        </p:nvSpPr>
        <p:spPr>
          <a:xfrm>
            <a:off x="2463800" y="6356350"/>
            <a:ext cx="3479800" cy="365125"/>
          </a:xfrm>
        </p:spPr>
        <p:txBody>
          <a:bodyPr/>
          <a:lstStyle/>
          <a:p>
            <a:r>
              <a:rPr lang="en-US" dirty="0"/>
              <a:t>PRESENTATION TITLE</a:t>
            </a:r>
          </a:p>
        </p:txBody>
      </p:sp>
      <p:sp>
        <p:nvSpPr>
          <p:cNvPr id="6" name="Slide Number Placeholder 5">
            <a:extLst>
              <a:ext uri="{FF2B5EF4-FFF2-40B4-BE49-F238E27FC236}">
                <a16:creationId xmlns:a16="http://schemas.microsoft.com/office/drawing/2014/main" id="{7BC1787E-7110-4989-B0B8-DD4E0ACC09DF}"/>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10</a:t>
            </a:fld>
            <a:endParaRPr lang="en-US" dirty="0"/>
          </a:p>
        </p:txBody>
      </p:sp>
      <p:pic>
        <p:nvPicPr>
          <p:cNvPr id="8" name="Picture 7">
            <a:extLst>
              <a:ext uri="{FF2B5EF4-FFF2-40B4-BE49-F238E27FC236}">
                <a16:creationId xmlns:a16="http://schemas.microsoft.com/office/drawing/2014/main" id="{DF261EB1-CC4C-44B7-9707-121EB3ABB73D}"/>
              </a:ext>
            </a:extLst>
          </p:cNvPr>
          <p:cNvPicPr>
            <a:picLocks noChangeAspect="1"/>
          </p:cNvPicPr>
          <p:nvPr/>
        </p:nvPicPr>
        <p:blipFill>
          <a:blip r:embed="rId2"/>
          <a:stretch>
            <a:fillRect/>
          </a:stretch>
        </p:blipFill>
        <p:spPr>
          <a:xfrm>
            <a:off x="8080715" y="712591"/>
            <a:ext cx="3115110" cy="526806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373309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E5F11-B7B9-4B80-8C6A-A8A7A7190B77}"/>
              </a:ext>
            </a:extLst>
          </p:cNvPr>
          <p:cNvSpPr>
            <a:spLocks noGrp="1"/>
          </p:cNvSpPr>
          <p:nvPr>
            <p:ph type="ctrTitle"/>
          </p:nvPr>
        </p:nvSpPr>
        <p:spPr>
          <a:xfrm>
            <a:off x="6991350" y="522514"/>
            <a:ext cx="4179570" cy="365125"/>
          </a:xfrm>
        </p:spPr>
        <p:txBody>
          <a:bodyPr/>
          <a:lstStyle/>
          <a:p>
            <a:r>
              <a:rPr lang="en-US" sz="1800" dirty="0">
                <a:effectLst/>
                <a:latin typeface="Georgia" panose="02040502050405020303" pitchFamily="18" charset="0"/>
                <a:ea typeface="Georgia" panose="02040502050405020303" pitchFamily="18" charset="0"/>
                <a:cs typeface="Times New Roman" panose="02020603050405020304" pitchFamily="18" charset="0"/>
              </a:rPr>
              <a:t>Datasets: omniglot</a:t>
            </a:r>
            <a:endParaRPr lang="en-US" dirty="0"/>
          </a:p>
        </p:txBody>
      </p:sp>
      <p:sp>
        <p:nvSpPr>
          <p:cNvPr id="3" name="Subtitle 2">
            <a:extLst>
              <a:ext uri="{FF2B5EF4-FFF2-40B4-BE49-F238E27FC236}">
                <a16:creationId xmlns:a16="http://schemas.microsoft.com/office/drawing/2014/main" id="{DA8AFAA9-633A-475C-B8ED-840A34F7294D}"/>
              </a:ext>
            </a:extLst>
          </p:cNvPr>
          <p:cNvSpPr>
            <a:spLocks noGrp="1"/>
          </p:cNvSpPr>
          <p:nvPr>
            <p:ph type="subTitle" idx="1"/>
          </p:nvPr>
        </p:nvSpPr>
        <p:spPr>
          <a:xfrm>
            <a:off x="6727225" y="887639"/>
            <a:ext cx="4686299" cy="5461687"/>
          </a:xfrm>
        </p:spPr>
        <p:txBody>
          <a:bodyPr/>
          <a:lstStyle/>
          <a:p>
            <a:pPr marL="285750" marR="0" lvl="0" indent="-285750">
              <a:spcBef>
                <a:spcPts val="0"/>
              </a:spcBef>
              <a:spcAft>
                <a:spcPts val="0"/>
              </a:spcAft>
              <a:buFont typeface="Wingdings" panose="05000000000000000000" pitchFamily="2" charset="2"/>
              <a:buChar char="Ø"/>
            </a:pPr>
            <a:r>
              <a:rPr lang="en-US" sz="1800" dirty="0">
                <a:effectLst/>
                <a:ea typeface="Georgia" panose="02040502050405020303" pitchFamily="18" charset="0"/>
                <a:cs typeface="Times New Roman" panose="02020603050405020304" pitchFamily="18" charset="0"/>
              </a:rPr>
              <a:t>50 alphabets with 1623 total characters (classes)</a:t>
            </a:r>
          </a:p>
          <a:p>
            <a:pPr marR="0" lvl="0">
              <a:spcBef>
                <a:spcPts val="0"/>
              </a:spcBef>
              <a:spcAft>
                <a:spcPts val="0"/>
              </a:spcAft>
            </a:pPr>
            <a:endParaRPr lang="en-US" sz="1800" dirty="0">
              <a:effectLst/>
              <a:ea typeface="Georgia" panose="02040502050405020303" pitchFamily="18" charset="0"/>
              <a:cs typeface="Times New Roman" panose="02020603050405020304" pitchFamily="18" charset="0"/>
            </a:endParaRPr>
          </a:p>
          <a:p>
            <a:pPr marL="285750" marR="0" lvl="0" indent="-285750">
              <a:spcBef>
                <a:spcPts val="0"/>
              </a:spcBef>
              <a:spcAft>
                <a:spcPts val="0"/>
              </a:spcAft>
              <a:buFont typeface="Wingdings" panose="05000000000000000000" pitchFamily="2" charset="2"/>
              <a:buChar char="Ø"/>
            </a:pPr>
            <a:r>
              <a:rPr lang="en-US" sz="1800" dirty="0">
                <a:effectLst/>
                <a:ea typeface="Georgia" panose="02040502050405020303" pitchFamily="18" charset="0"/>
                <a:cs typeface="Times New Roman" panose="02020603050405020304" pitchFamily="18" charset="0"/>
              </a:rPr>
              <a:t>Each character has 20 examples</a:t>
            </a:r>
          </a:p>
          <a:p>
            <a:pPr marR="0" lvl="0">
              <a:spcBef>
                <a:spcPts val="0"/>
              </a:spcBef>
              <a:spcAft>
                <a:spcPts val="0"/>
              </a:spcAft>
            </a:pPr>
            <a:endParaRPr lang="en-US" sz="1800" dirty="0">
              <a:effectLst/>
              <a:ea typeface="Georgia" panose="02040502050405020303" pitchFamily="18" charset="0"/>
              <a:cs typeface="Times New Roman" panose="02020603050405020304" pitchFamily="18" charset="0"/>
            </a:endParaRPr>
          </a:p>
          <a:p>
            <a:pPr marL="285750" marR="0" lvl="0" indent="-285750">
              <a:spcBef>
                <a:spcPts val="0"/>
              </a:spcBef>
              <a:spcAft>
                <a:spcPts val="0"/>
              </a:spcAft>
              <a:buFont typeface="Wingdings" panose="05000000000000000000" pitchFamily="2" charset="2"/>
              <a:buChar char="Ø"/>
            </a:pPr>
            <a:r>
              <a:rPr lang="en-US" sz="1800" dirty="0">
                <a:effectLst/>
                <a:ea typeface="Georgia" panose="02040502050405020303" pitchFamily="18" charset="0"/>
                <a:cs typeface="Times New Roman" panose="02020603050405020304" pitchFamily="18" charset="0"/>
              </a:rPr>
              <a:t>1200 characters for training (Sample/Query)</a:t>
            </a:r>
          </a:p>
          <a:p>
            <a:pPr marR="0" lvl="0">
              <a:spcBef>
                <a:spcPts val="0"/>
              </a:spcBef>
              <a:spcAft>
                <a:spcPts val="0"/>
              </a:spcAft>
            </a:pPr>
            <a:endParaRPr lang="en-US" sz="1800" dirty="0">
              <a:effectLst/>
              <a:ea typeface="Georgia" panose="02040502050405020303" pitchFamily="18" charset="0"/>
              <a:cs typeface="Times New Roman" panose="02020603050405020304" pitchFamily="18" charset="0"/>
            </a:endParaRPr>
          </a:p>
          <a:p>
            <a:pPr marL="285750" marR="0" lvl="0" indent="-285750">
              <a:spcBef>
                <a:spcPts val="0"/>
              </a:spcBef>
              <a:spcAft>
                <a:spcPts val="0"/>
              </a:spcAft>
              <a:buFont typeface="Wingdings" panose="05000000000000000000" pitchFamily="2" charset="2"/>
              <a:buChar char="Ø"/>
            </a:pPr>
            <a:r>
              <a:rPr lang="en-US" sz="1800" dirty="0">
                <a:effectLst/>
                <a:ea typeface="Georgia" panose="02040502050405020303" pitchFamily="18" charset="0"/>
                <a:cs typeface="Times New Roman" panose="02020603050405020304" pitchFamily="18" charset="0"/>
              </a:rPr>
              <a:t>423 characters for testing (Support/Test)</a:t>
            </a:r>
          </a:p>
          <a:p>
            <a:pPr marL="285750" marR="0" lvl="0" indent="-285750">
              <a:spcBef>
                <a:spcPts val="0"/>
              </a:spcBef>
              <a:spcAft>
                <a:spcPts val="0"/>
              </a:spcAft>
              <a:buFont typeface="Wingdings" panose="05000000000000000000" pitchFamily="2" charset="2"/>
              <a:buChar char="Ø"/>
            </a:pPr>
            <a:endParaRPr lang="en-US" sz="1800" dirty="0">
              <a:ea typeface="Georgia" panose="02040502050405020303" pitchFamily="18" charset="0"/>
              <a:cs typeface="Times New Roman" panose="02020603050405020304" pitchFamily="18" charset="0"/>
            </a:endParaRPr>
          </a:p>
          <a:p>
            <a:pPr marR="0" lvl="0">
              <a:spcBef>
                <a:spcPts val="0"/>
              </a:spcBef>
              <a:spcAft>
                <a:spcPts val="0"/>
              </a:spcAft>
            </a:pPr>
            <a:r>
              <a:rPr lang="en-US" sz="1800" dirty="0">
                <a:effectLst/>
                <a:ea typeface="Georgia" panose="02040502050405020303" pitchFamily="18" charset="0"/>
                <a:cs typeface="Times New Roman" panose="02020603050405020304" pitchFamily="18" charset="0"/>
              </a:rPr>
              <a:t>Experiments:</a:t>
            </a:r>
          </a:p>
          <a:p>
            <a:pPr marL="285750" marR="0" lvl="0" indent="-285750">
              <a:spcBef>
                <a:spcPts val="0"/>
              </a:spcBef>
              <a:spcAft>
                <a:spcPts val="0"/>
              </a:spcAft>
              <a:buFont typeface="Wingdings" panose="05000000000000000000" pitchFamily="2" charset="2"/>
              <a:buChar char="Ø"/>
            </a:pPr>
            <a:r>
              <a:rPr lang="en-US" sz="1800" dirty="0">
                <a:ea typeface="Georgia" panose="02040502050405020303" pitchFamily="18" charset="0"/>
                <a:cs typeface="Times New Roman" panose="02020603050405020304" pitchFamily="18" charset="0"/>
              </a:rPr>
              <a:t>5</a:t>
            </a:r>
            <a:r>
              <a:rPr lang="en-US" sz="1800" dirty="0">
                <a:effectLst/>
                <a:ea typeface="Georgia" panose="02040502050405020303" pitchFamily="18" charset="0"/>
                <a:cs typeface="Times New Roman" panose="02020603050405020304" pitchFamily="18" charset="0"/>
              </a:rPr>
              <a:t>-way 1-shot</a:t>
            </a:r>
          </a:p>
          <a:p>
            <a:pPr marL="285750" marR="0" lvl="0" indent="-285750">
              <a:spcBef>
                <a:spcPts val="0"/>
              </a:spcBef>
              <a:spcAft>
                <a:spcPts val="0"/>
              </a:spcAft>
              <a:buFont typeface="Wingdings" panose="05000000000000000000" pitchFamily="2" charset="2"/>
              <a:buChar char="Ø"/>
            </a:pPr>
            <a:r>
              <a:rPr lang="en-US" sz="1800" dirty="0">
                <a:ea typeface="Georgia" panose="02040502050405020303" pitchFamily="18" charset="0"/>
                <a:cs typeface="Times New Roman" panose="02020603050405020304" pitchFamily="18" charset="0"/>
              </a:rPr>
              <a:t>5</a:t>
            </a:r>
            <a:r>
              <a:rPr lang="en-US" sz="1800" dirty="0">
                <a:effectLst/>
                <a:ea typeface="Georgia" panose="02040502050405020303" pitchFamily="18" charset="0"/>
                <a:cs typeface="Times New Roman" panose="02020603050405020304" pitchFamily="18" charset="0"/>
              </a:rPr>
              <a:t>-way 5-shot</a:t>
            </a:r>
          </a:p>
          <a:p>
            <a:pPr marL="285750" marR="0" lvl="0" indent="-285750">
              <a:spcBef>
                <a:spcPts val="0"/>
              </a:spcBef>
              <a:spcAft>
                <a:spcPts val="0"/>
              </a:spcAft>
              <a:buFont typeface="Wingdings" panose="05000000000000000000" pitchFamily="2" charset="2"/>
              <a:buChar char="Ø"/>
            </a:pPr>
            <a:r>
              <a:rPr lang="en-US" sz="1800" dirty="0">
                <a:effectLst/>
                <a:ea typeface="Georgia" panose="02040502050405020303" pitchFamily="18" charset="0"/>
                <a:cs typeface="Times New Roman" panose="02020603050405020304" pitchFamily="18" charset="0"/>
              </a:rPr>
              <a:t>20-way 1-shot</a:t>
            </a:r>
          </a:p>
          <a:p>
            <a:pPr marL="285750" marR="0" lvl="0" indent="-285750">
              <a:spcBef>
                <a:spcPts val="0"/>
              </a:spcBef>
              <a:spcAft>
                <a:spcPts val="0"/>
              </a:spcAft>
              <a:buFont typeface="Wingdings" panose="05000000000000000000" pitchFamily="2" charset="2"/>
              <a:buChar char="Ø"/>
            </a:pPr>
            <a:r>
              <a:rPr lang="en-US" sz="1800" dirty="0">
                <a:effectLst/>
                <a:ea typeface="Georgia" panose="02040502050405020303" pitchFamily="18" charset="0"/>
                <a:cs typeface="Times New Roman" panose="02020603050405020304" pitchFamily="18" charset="0"/>
              </a:rPr>
              <a:t>20-way 5-shot</a:t>
            </a:r>
          </a:p>
          <a:p>
            <a:pPr marR="0" lvl="0">
              <a:spcBef>
                <a:spcPts val="0"/>
              </a:spcBef>
              <a:spcAft>
                <a:spcPts val="0"/>
              </a:spcAft>
            </a:pPr>
            <a:endParaRPr lang="en-US" sz="1800" dirty="0">
              <a:ea typeface="Georgia" panose="02040502050405020303" pitchFamily="18" charset="0"/>
              <a:cs typeface="Times New Roman" panose="02020603050405020304" pitchFamily="18" charset="0"/>
            </a:endParaRPr>
          </a:p>
          <a:p>
            <a:pPr marL="285750" marR="0" lvl="0" indent="-285750">
              <a:spcBef>
                <a:spcPts val="0"/>
              </a:spcBef>
              <a:spcAft>
                <a:spcPts val="0"/>
              </a:spcAft>
              <a:buFont typeface="Wingdings" panose="05000000000000000000" pitchFamily="2" charset="2"/>
              <a:buChar char="Ø"/>
            </a:pPr>
            <a:r>
              <a:rPr lang="en-US" sz="1800" dirty="0">
                <a:effectLst/>
                <a:ea typeface="Georgia" panose="02040502050405020303" pitchFamily="18" charset="0"/>
                <a:cs typeface="Times New Roman" panose="02020603050405020304" pitchFamily="18" charset="0"/>
              </a:rPr>
              <a:t>RN performed better than all pervious reported methods (except tied (within confidence interval) with MAML on S-way 5-shot)</a:t>
            </a:r>
          </a:p>
        </p:txBody>
      </p:sp>
      <p:pic>
        <p:nvPicPr>
          <p:cNvPr id="5" name="Picture 4">
            <a:extLst>
              <a:ext uri="{FF2B5EF4-FFF2-40B4-BE49-F238E27FC236}">
                <a16:creationId xmlns:a16="http://schemas.microsoft.com/office/drawing/2014/main" id="{1328EA01-CE50-4246-8C93-1D4E66608FC4}"/>
              </a:ext>
            </a:extLst>
          </p:cNvPr>
          <p:cNvPicPr>
            <a:picLocks noChangeAspect="1"/>
          </p:cNvPicPr>
          <p:nvPr/>
        </p:nvPicPr>
        <p:blipFill>
          <a:blip r:embed="rId2"/>
          <a:stretch>
            <a:fillRect/>
          </a:stretch>
        </p:blipFill>
        <p:spPr>
          <a:xfrm>
            <a:off x="393615" y="1987508"/>
            <a:ext cx="6055195" cy="2708062"/>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4985166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E5F11-B7B9-4B80-8C6A-A8A7A7190B77}"/>
              </a:ext>
            </a:extLst>
          </p:cNvPr>
          <p:cNvSpPr>
            <a:spLocks noGrp="1"/>
          </p:cNvSpPr>
          <p:nvPr>
            <p:ph type="ctrTitle"/>
          </p:nvPr>
        </p:nvSpPr>
        <p:spPr>
          <a:xfrm>
            <a:off x="6991350" y="522514"/>
            <a:ext cx="4179570" cy="365125"/>
          </a:xfrm>
        </p:spPr>
        <p:txBody>
          <a:bodyPr/>
          <a:lstStyle/>
          <a:p>
            <a:r>
              <a:rPr lang="en-US" sz="1800" dirty="0">
                <a:effectLst/>
                <a:latin typeface="Georgia" panose="02040502050405020303" pitchFamily="18" charset="0"/>
                <a:ea typeface="Georgia" panose="02040502050405020303" pitchFamily="18" charset="0"/>
                <a:cs typeface="Times New Roman" panose="02020603050405020304" pitchFamily="18" charset="0"/>
              </a:rPr>
              <a:t>Datasets: mini imagenet</a:t>
            </a:r>
            <a:endParaRPr lang="en-US" dirty="0"/>
          </a:p>
        </p:txBody>
      </p:sp>
      <p:sp>
        <p:nvSpPr>
          <p:cNvPr id="3" name="Subtitle 2">
            <a:extLst>
              <a:ext uri="{FF2B5EF4-FFF2-40B4-BE49-F238E27FC236}">
                <a16:creationId xmlns:a16="http://schemas.microsoft.com/office/drawing/2014/main" id="{DA8AFAA9-633A-475C-B8ED-840A34F7294D}"/>
              </a:ext>
            </a:extLst>
          </p:cNvPr>
          <p:cNvSpPr>
            <a:spLocks noGrp="1"/>
          </p:cNvSpPr>
          <p:nvPr>
            <p:ph type="subTitle" idx="1"/>
          </p:nvPr>
        </p:nvSpPr>
        <p:spPr>
          <a:xfrm>
            <a:off x="6727225" y="887639"/>
            <a:ext cx="4686299" cy="5461687"/>
          </a:xfrm>
        </p:spPr>
        <p:txBody>
          <a:bodyPr/>
          <a:lstStyle/>
          <a:p>
            <a:pPr marL="285750" marR="0" lvl="0" indent="-285750">
              <a:spcBef>
                <a:spcPts val="0"/>
              </a:spcBef>
              <a:spcAft>
                <a:spcPts val="0"/>
              </a:spcAft>
              <a:buFont typeface="Wingdings" panose="05000000000000000000" pitchFamily="2" charset="2"/>
              <a:buChar char="Ø"/>
            </a:pPr>
            <a:r>
              <a:rPr lang="en-US" sz="1800" dirty="0">
                <a:effectLst/>
                <a:ea typeface="Georgia" panose="02040502050405020303" pitchFamily="18" charset="0"/>
                <a:cs typeface="Times New Roman" panose="02020603050405020304" pitchFamily="18" charset="0"/>
              </a:rPr>
              <a:t>60,000 images from 100 classes</a:t>
            </a:r>
          </a:p>
          <a:p>
            <a:pPr marR="0" lvl="0">
              <a:spcBef>
                <a:spcPts val="0"/>
              </a:spcBef>
              <a:spcAft>
                <a:spcPts val="0"/>
              </a:spcAft>
            </a:pPr>
            <a:endParaRPr lang="en-US" sz="1800" dirty="0">
              <a:effectLst/>
              <a:ea typeface="Georgia" panose="02040502050405020303" pitchFamily="18" charset="0"/>
              <a:cs typeface="Times New Roman" panose="02020603050405020304" pitchFamily="18" charset="0"/>
            </a:endParaRPr>
          </a:p>
          <a:p>
            <a:pPr marL="285750" marR="0" lvl="0" indent="-285750">
              <a:spcBef>
                <a:spcPts val="0"/>
              </a:spcBef>
              <a:spcAft>
                <a:spcPts val="0"/>
              </a:spcAft>
              <a:buFont typeface="Wingdings" panose="05000000000000000000" pitchFamily="2" charset="2"/>
              <a:buChar char="Ø"/>
            </a:pPr>
            <a:r>
              <a:rPr lang="en-US" sz="1800" dirty="0">
                <a:effectLst/>
                <a:ea typeface="Georgia" panose="02040502050405020303" pitchFamily="18" charset="0"/>
                <a:cs typeface="Times New Roman" panose="02020603050405020304" pitchFamily="18" charset="0"/>
              </a:rPr>
              <a:t>600 examples per class</a:t>
            </a:r>
          </a:p>
          <a:p>
            <a:pPr marR="0" lvl="0">
              <a:spcBef>
                <a:spcPts val="0"/>
              </a:spcBef>
              <a:spcAft>
                <a:spcPts val="0"/>
              </a:spcAft>
            </a:pPr>
            <a:endParaRPr lang="en-US" sz="1800" dirty="0">
              <a:effectLst/>
              <a:ea typeface="Georgia" panose="02040502050405020303" pitchFamily="18" charset="0"/>
              <a:cs typeface="Times New Roman" panose="02020603050405020304" pitchFamily="18" charset="0"/>
            </a:endParaRPr>
          </a:p>
          <a:p>
            <a:pPr marL="285750" marR="0" lvl="0" indent="-285750">
              <a:spcBef>
                <a:spcPts val="0"/>
              </a:spcBef>
              <a:spcAft>
                <a:spcPts val="0"/>
              </a:spcAft>
              <a:buFont typeface="Wingdings" panose="05000000000000000000" pitchFamily="2" charset="2"/>
              <a:buChar char="Ø"/>
            </a:pPr>
            <a:r>
              <a:rPr lang="en-US" sz="1800" dirty="0">
                <a:effectLst/>
                <a:ea typeface="Georgia" panose="02040502050405020303" pitchFamily="18" charset="0"/>
                <a:cs typeface="Times New Roman" panose="02020603050405020304" pitchFamily="18" charset="0"/>
              </a:rPr>
              <a:t>64 classes for training</a:t>
            </a:r>
          </a:p>
          <a:p>
            <a:pPr marR="0" lvl="0">
              <a:spcBef>
                <a:spcPts val="0"/>
              </a:spcBef>
              <a:spcAft>
                <a:spcPts val="0"/>
              </a:spcAft>
            </a:pPr>
            <a:endParaRPr lang="en-US" sz="1800" dirty="0">
              <a:effectLst/>
              <a:ea typeface="Georgia" panose="02040502050405020303" pitchFamily="18" charset="0"/>
              <a:cs typeface="Times New Roman" panose="02020603050405020304" pitchFamily="18" charset="0"/>
            </a:endParaRPr>
          </a:p>
          <a:p>
            <a:pPr marL="285750" marR="0" lvl="0" indent="-285750">
              <a:spcBef>
                <a:spcPts val="0"/>
              </a:spcBef>
              <a:spcAft>
                <a:spcPts val="0"/>
              </a:spcAft>
              <a:buFont typeface="Wingdings" panose="05000000000000000000" pitchFamily="2" charset="2"/>
              <a:buChar char="Ø"/>
            </a:pPr>
            <a:r>
              <a:rPr lang="en-US" sz="1800" dirty="0">
                <a:ea typeface="Georgia" panose="02040502050405020303" pitchFamily="18" charset="0"/>
                <a:cs typeface="Times New Roman" panose="02020603050405020304" pitchFamily="18" charset="0"/>
              </a:rPr>
              <a:t>2</a:t>
            </a:r>
            <a:r>
              <a:rPr lang="en-US" sz="1800" dirty="0">
                <a:effectLst/>
                <a:ea typeface="Georgia" panose="02040502050405020303" pitchFamily="18" charset="0"/>
                <a:cs typeface="Times New Roman" panose="02020603050405020304" pitchFamily="18" charset="0"/>
              </a:rPr>
              <a:t>0 classes for testing</a:t>
            </a:r>
          </a:p>
          <a:p>
            <a:pPr marR="0" lvl="0">
              <a:spcBef>
                <a:spcPts val="0"/>
              </a:spcBef>
              <a:spcAft>
                <a:spcPts val="0"/>
              </a:spcAft>
            </a:pPr>
            <a:endParaRPr lang="en-US" sz="1800" dirty="0">
              <a:effectLst/>
              <a:ea typeface="Georgia" panose="02040502050405020303" pitchFamily="18" charset="0"/>
              <a:cs typeface="Times New Roman" panose="02020603050405020304" pitchFamily="18" charset="0"/>
            </a:endParaRPr>
          </a:p>
          <a:p>
            <a:pPr marL="285750" marR="0" lvl="0" indent="-285750">
              <a:spcBef>
                <a:spcPts val="0"/>
              </a:spcBef>
              <a:spcAft>
                <a:spcPts val="0"/>
              </a:spcAft>
              <a:buFont typeface="Wingdings" panose="05000000000000000000" pitchFamily="2" charset="2"/>
              <a:buChar char="Ø"/>
            </a:pPr>
            <a:r>
              <a:rPr lang="en-US" sz="1800" dirty="0">
                <a:effectLst/>
                <a:ea typeface="Georgia" panose="02040502050405020303" pitchFamily="18" charset="0"/>
                <a:cs typeface="Times New Roman" panose="02020603050405020304" pitchFamily="18" charset="0"/>
              </a:rPr>
              <a:t>16 classes for validation (monitoring generalization only)</a:t>
            </a:r>
          </a:p>
          <a:p>
            <a:pPr marR="0" lvl="0">
              <a:spcBef>
                <a:spcPts val="0"/>
              </a:spcBef>
              <a:spcAft>
                <a:spcPts val="0"/>
              </a:spcAft>
            </a:pPr>
            <a:endParaRPr lang="en-US" sz="1800" dirty="0">
              <a:effectLst/>
              <a:ea typeface="Georgia" panose="02040502050405020303" pitchFamily="18" charset="0"/>
              <a:cs typeface="Times New Roman" panose="02020603050405020304" pitchFamily="18" charset="0"/>
            </a:endParaRPr>
          </a:p>
          <a:p>
            <a:pPr marL="285750" marR="0" lvl="0" indent="-285750">
              <a:spcBef>
                <a:spcPts val="0"/>
              </a:spcBef>
              <a:spcAft>
                <a:spcPts val="0"/>
              </a:spcAft>
              <a:buFont typeface="Wingdings" panose="05000000000000000000" pitchFamily="2" charset="2"/>
              <a:buChar char="Ø"/>
            </a:pPr>
            <a:r>
              <a:rPr lang="en-US" sz="1800" dirty="0">
                <a:effectLst/>
                <a:ea typeface="Georgia" panose="02040502050405020303" pitchFamily="18" charset="0"/>
                <a:cs typeface="Times New Roman" panose="02020603050405020304" pitchFamily="18" charset="0"/>
              </a:rPr>
              <a:t>Experiments:</a:t>
            </a:r>
          </a:p>
          <a:p>
            <a:pPr marL="285750" marR="0" lvl="0" indent="-285750">
              <a:spcBef>
                <a:spcPts val="0"/>
              </a:spcBef>
              <a:spcAft>
                <a:spcPts val="0"/>
              </a:spcAft>
              <a:buFont typeface="Wingdings" panose="05000000000000000000" pitchFamily="2" charset="2"/>
              <a:buChar char="§"/>
            </a:pPr>
            <a:r>
              <a:rPr lang="en-US" sz="1800" dirty="0">
                <a:effectLst/>
                <a:ea typeface="Georgia" panose="02040502050405020303" pitchFamily="18" charset="0"/>
                <a:cs typeface="Times New Roman" panose="02020603050405020304" pitchFamily="18" charset="0"/>
              </a:rPr>
              <a:t>5-way 1-shot </a:t>
            </a:r>
          </a:p>
          <a:p>
            <a:pPr marL="285750" marR="0" lvl="0" indent="-285750">
              <a:spcBef>
                <a:spcPts val="0"/>
              </a:spcBef>
              <a:spcAft>
                <a:spcPts val="0"/>
              </a:spcAft>
              <a:buFont typeface="Wingdings" panose="05000000000000000000" pitchFamily="2" charset="2"/>
              <a:buChar char="§"/>
            </a:pPr>
            <a:r>
              <a:rPr lang="en-US" sz="1800" dirty="0">
                <a:effectLst/>
                <a:ea typeface="Georgia" panose="02040502050405020303" pitchFamily="18" charset="0"/>
                <a:cs typeface="Times New Roman" panose="02020603050405020304" pitchFamily="18" charset="0"/>
              </a:rPr>
              <a:t>5-way S-shot</a:t>
            </a:r>
          </a:p>
          <a:p>
            <a:pPr marR="0" lvl="0">
              <a:spcBef>
                <a:spcPts val="0"/>
              </a:spcBef>
              <a:spcAft>
                <a:spcPts val="0"/>
              </a:spcAft>
            </a:pPr>
            <a:endParaRPr lang="en-US" sz="1800" dirty="0">
              <a:effectLst/>
              <a:ea typeface="Georgia" panose="02040502050405020303" pitchFamily="18" charset="0"/>
              <a:cs typeface="Times New Roman" panose="02020603050405020304" pitchFamily="18" charset="0"/>
            </a:endParaRPr>
          </a:p>
          <a:p>
            <a:pPr marL="285750" marR="0" lvl="0" indent="-285750">
              <a:spcBef>
                <a:spcPts val="0"/>
              </a:spcBef>
              <a:spcAft>
                <a:spcPts val="0"/>
              </a:spcAft>
              <a:buFont typeface="Wingdings" panose="05000000000000000000" pitchFamily="2" charset="2"/>
              <a:buChar char="Ø"/>
            </a:pPr>
            <a:r>
              <a:rPr lang="en-US" sz="1800" dirty="0">
                <a:effectLst/>
                <a:ea typeface="Georgia" panose="02040502050405020303" pitchFamily="18" charset="0"/>
                <a:cs typeface="Times New Roman" panose="02020603050405020304" pitchFamily="18" charset="0"/>
              </a:rPr>
              <a:t>RN performed better than all pervious reported methods for 5-way 1-shot,competitive on 5-way 5-shot</a:t>
            </a:r>
          </a:p>
        </p:txBody>
      </p:sp>
      <p:pic>
        <p:nvPicPr>
          <p:cNvPr id="5" name="Picture 4">
            <a:extLst>
              <a:ext uri="{FF2B5EF4-FFF2-40B4-BE49-F238E27FC236}">
                <a16:creationId xmlns:a16="http://schemas.microsoft.com/office/drawing/2014/main" id="{4852071E-EDF0-4950-BD01-08B3D8E2E410}"/>
              </a:ext>
            </a:extLst>
          </p:cNvPr>
          <p:cNvPicPr>
            <a:picLocks noChangeAspect="1"/>
          </p:cNvPicPr>
          <p:nvPr/>
        </p:nvPicPr>
        <p:blipFill>
          <a:blip r:embed="rId2"/>
          <a:stretch>
            <a:fillRect/>
          </a:stretch>
        </p:blipFill>
        <p:spPr>
          <a:xfrm>
            <a:off x="778476" y="1623179"/>
            <a:ext cx="5488744" cy="3220669"/>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32723259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9EDFEF34-DA85-4BE0-AF22-59E2913837A5}"/>
              </a:ext>
            </a:extLst>
          </p:cNvPr>
          <p:cNvSpPr/>
          <p:nvPr/>
        </p:nvSpPr>
        <p:spPr>
          <a:xfrm>
            <a:off x="1260389" y="1707179"/>
            <a:ext cx="9407611" cy="3443640"/>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3E5FEE2D-79E5-4C1D-8BF7-EE619CA7039A}"/>
              </a:ext>
            </a:extLst>
          </p:cNvPr>
          <p:cNvSpPr>
            <a:spLocks noGrp="1"/>
          </p:cNvSpPr>
          <p:nvPr>
            <p:ph type="title"/>
          </p:nvPr>
        </p:nvSpPr>
        <p:spPr>
          <a:xfrm>
            <a:off x="838200" y="134303"/>
            <a:ext cx="10515600" cy="1325563"/>
          </a:xfrm>
        </p:spPr>
        <p:txBody>
          <a:bodyPr/>
          <a:lstStyle/>
          <a:p>
            <a:r>
              <a:rPr lang="en-US" dirty="0"/>
              <a:t>Omniglot – experimental results</a:t>
            </a:r>
          </a:p>
        </p:txBody>
      </p:sp>
      <p:sp>
        <p:nvSpPr>
          <p:cNvPr id="7" name="Date Placeholder 6">
            <a:extLst>
              <a:ext uri="{FF2B5EF4-FFF2-40B4-BE49-F238E27FC236}">
                <a16:creationId xmlns:a16="http://schemas.microsoft.com/office/drawing/2014/main" id="{E7F1AE66-47AA-4110-86B9-0626D4953989}"/>
              </a:ext>
            </a:extLst>
          </p:cNvPr>
          <p:cNvSpPr>
            <a:spLocks noGrp="1"/>
          </p:cNvSpPr>
          <p:nvPr>
            <p:ph type="dt" sz="half" idx="10"/>
          </p:nvPr>
        </p:nvSpPr>
        <p:spPr>
          <a:xfrm>
            <a:off x="838200" y="6356350"/>
            <a:ext cx="2743200" cy="365125"/>
          </a:xfrm>
        </p:spPr>
        <p:txBody>
          <a:bodyPr/>
          <a:lstStyle/>
          <a:p>
            <a:r>
              <a:rPr lang="en-US" dirty="0"/>
              <a:t>20XX</a:t>
            </a:r>
          </a:p>
        </p:txBody>
      </p:sp>
      <p:sp>
        <p:nvSpPr>
          <p:cNvPr id="8" name="Footer Placeholder 7">
            <a:extLst>
              <a:ext uri="{FF2B5EF4-FFF2-40B4-BE49-F238E27FC236}">
                <a16:creationId xmlns:a16="http://schemas.microsoft.com/office/drawing/2014/main" id="{8BA5A93F-DCAE-40B8-8E94-3239A1A6A21A}"/>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9" name="Slide Number Placeholder 8">
            <a:extLst>
              <a:ext uri="{FF2B5EF4-FFF2-40B4-BE49-F238E27FC236}">
                <a16:creationId xmlns:a16="http://schemas.microsoft.com/office/drawing/2014/main" id="{03091613-153A-4005-9F4D-2F185AE5F7BF}"/>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13</a:t>
            </a:fld>
            <a:endParaRPr lang="en-US" dirty="0"/>
          </a:p>
        </p:txBody>
      </p:sp>
      <p:pic>
        <p:nvPicPr>
          <p:cNvPr id="10" name="Picture 9">
            <a:extLst>
              <a:ext uri="{FF2B5EF4-FFF2-40B4-BE49-F238E27FC236}">
                <a16:creationId xmlns:a16="http://schemas.microsoft.com/office/drawing/2014/main" id="{B529B154-3E11-4C82-AF3F-F08A5E649FF6}"/>
              </a:ext>
            </a:extLst>
          </p:cNvPr>
          <p:cNvPicPr>
            <a:picLocks noChangeAspect="1"/>
          </p:cNvPicPr>
          <p:nvPr/>
        </p:nvPicPr>
        <p:blipFill>
          <a:blip r:embed="rId2"/>
          <a:stretch>
            <a:fillRect/>
          </a:stretch>
        </p:blipFill>
        <p:spPr>
          <a:xfrm>
            <a:off x="1610271" y="1828576"/>
            <a:ext cx="8773749" cy="320084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24996826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40014-73D5-419B-8867-972BB18D52D4}"/>
              </a:ext>
            </a:extLst>
          </p:cNvPr>
          <p:cNvSpPr>
            <a:spLocks noGrp="1"/>
          </p:cNvSpPr>
          <p:nvPr>
            <p:ph type="title"/>
          </p:nvPr>
        </p:nvSpPr>
        <p:spPr>
          <a:xfrm>
            <a:off x="2933700" y="572757"/>
            <a:ext cx="8421688" cy="1644984"/>
          </a:xfrm>
        </p:spPr>
        <p:txBody>
          <a:bodyPr/>
          <a:lstStyle/>
          <a:p>
            <a:r>
              <a:rPr lang="en-US" dirty="0"/>
              <a:t>Why relational networks?</a:t>
            </a:r>
          </a:p>
        </p:txBody>
      </p:sp>
      <p:sp>
        <p:nvSpPr>
          <p:cNvPr id="4" name="Content Placeholder 3">
            <a:extLst>
              <a:ext uri="{FF2B5EF4-FFF2-40B4-BE49-F238E27FC236}">
                <a16:creationId xmlns:a16="http://schemas.microsoft.com/office/drawing/2014/main" id="{33D8731E-4977-402E-8BFD-895B4D0544CC}"/>
              </a:ext>
            </a:extLst>
          </p:cNvPr>
          <p:cNvSpPr>
            <a:spLocks noGrp="1"/>
          </p:cNvSpPr>
          <p:nvPr>
            <p:ph sz="half" idx="2"/>
          </p:nvPr>
        </p:nvSpPr>
        <p:spPr>
          <a:xfrm>
            <a:off x="2933699" y="2636108"/>
            <a:ext cx="8516895" cy="1762897"/>
          </a:xfrm>
        </p:spPr>
        <p:txBody>
          <a:bodyPr>
            <a:normAutofit/>
          </a:bodyPr>
          <a:lstStyle/>
          <a:p>
            <a:pPr marL="285750" indent="-285750">
              <a:buFont typeface="Wingdings" panose="05000000000000000000" pitchFamily="2" charset="2"/>
              <a:buChar char="Ø"/>
            </a:pPr>
            <a:r>
              <a:rPr lang="en-US" dirty="0"/>
              <a:t>RN is both a deep embedding and a deep non-linear metric.</a:t>
            </a:r>
          </a:p>
          <a:p>
            <a:pPr marL="285750" indent="-285750">
              <a:buFont typeface="Wingdings" panose="05000000000000000000" pitchFamily="2" charset="2"/>
              <a:buChar char="Ø"/>
            </a:pPr>
            <a:r>
              <a:rPr lang="en-US" dirty="0"/>
              <a:t>Rather than choose a metric such a Euclidean, cosine or Mahalanobisthe metric is learned from the training data.</a:t>
            </a:r>
          </a:p>
          <a:p>
            <a:pPr marL="285750" indent="-285750">
              <a:buFont typeface="Wingdings" panose="05000000000000000000" pitchFamily="2" charset="2"/>
              <a:buChar char="Ø"/>
            </a:pPr>
            <a:r>
              <a:rPr lang="en-US" dirty="0"/>
              <a:t>By learning the deep embedding simultaneously with the deep non-linear metric the RN can better identify matched/mismatched pairs.</a:t>
            </a:r>
          </a:p>
        </p:txBody>
      </p:sp>
      <p:sp>
        <p:nvSpPr>
          <p:cNvPr id="7" name="Date Placeholder 6">
            <a:extLst>
              <a:ext uri="{FF2B5EF4-FFF2-40B4-BE49-F238E27FC236}">
                <a16:creationId xmlns:a16="http://schemas.microsoft.com/office/drawing/2014/main" id="{B2A46C4A-D036-4440-BB64-6754F4FF27C1}"/>
              </a:ext>
            </a:extLst>
          </p:cNvPr>
          <p:cNvSpPr>
            <a:spLocks noGrp="1"/>
          </p:cNvSpPr>
          <p:nvPr>
            <p:ph type="dt" sz="half" idx="10"/>
          </p:nvPr>
        </p:nvSpPr>
        <p:spPr>
          <a:xfrm>
            <a:off x="838200" y="6356350"/>
            <a:ext cx="2743200" cy="365125"/>
          </a:xfrm>
        </p:spPr>
        <p:txBody>
          <a:bodyPr/>
          <a:lstStyle/>
          <a:p>
            <a:r>
              <a:rPr lang="en-US" dirty="0"/>
              <a:t>20XX</a:t>
            </a:r>
          </a:p>
        </p:txBody>
      </p:sp>
      <p:sp>
        <p:nvSpPr>
          <p:cNvPr id="8" name="Footer Placeholder 7">
            <a:extLst>
              <a:ext uri="{FF2B5EF4-FFF2-40B4-BE49-F238E27FC236}">
                <a16:creationId xmlns:a16="http://schemas.microsoft.com/office/drawing/2014/main" id="{905F172A-5D5D-43CD-A187-DA0D303F4144}"/>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9" name="Slide Number Placeholder 8">
            <a:extLst>
              <a:ext uri="{FF2B5EF4-FFF2-40B4-BE49-F238E27FC236}">
                <a16:creationId xmlns:a16="http://schemas.microsoft.com/office/drawing/2014/main" id="{C396FFDC-ADE8-4009-A466-A81787258E88}"/>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14</a:t>
            </a:fld>
            <a:endParaRPr lang="en-US" dirty="0"/>
          </a:p>
        </p:txBody>
      </p:sp>
    </p:spTree>
    <p:extLst>
      <p:ext uri="{BB962C8B-B14F-4D97-AF65-F5344CB8AC3E}">
        <p14:creationId xmlns:p14="http://schemas.microsoft.com/office/powerpoint/2010/main" val="16637801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E5F11-B7B9-4B80-8C6A-A8A7A7190B77}"/>
              </a:ext>
            </a:extLst>
          </p:cNvPr>
          <p:cNvSpPr>
            <a:spLocks noGrp="1"/>
          </p:cNvSpPr>
          <p:nvPr>
            <p:ph type="ctrTitle"/>
          </p:nvPr>
        </p:nvSpPr>
        <p:spPr>
          <a:xfrm>
            <a:off x="6991350" y="522514"/>
            <a:ext cx="4179570" cy="365125"/>
          </a:xfrm>
        </p:spPr>
        <p:txBody>
          <a:bodyPr/>
          <a:lstStyle/>
          <a:p>
            <a:r>
              <a:rPr lang="en-US" sz="1800" dirty="0">
                <a:effectLst/>
                <a:latin typeface="Georgia" panose="02040502050405020303" pitchFamily="18" charset="0"/>
                <a:ea typeface="Georgia" panose="02040502050405020303" pitchFamily="18" charset="0"/>
                <a:cs typeface="Times New Roman" panose="02020603050405020304" pitchFamily="18" charset="0"/>
              </a:rPr>
              <a:t>Visualization</a:t>
            </a:r>
            <a:endParaRPr lang="en-US" dirty="0"/>
          </a:p>
        </p:txBody>
      </p:sp>
      <p:sp>
        <p:nvSpPr>
          <p:cNvPr id="3" name="Subtitle 2">
            <a:extLst>
              <a:ext uri="{FF2B5EF4-FFF2-40B4-BE49-F238E27FC236}">
                <a16:creationId xmlns:a16="http://schemas.microsoft.com/office/drawing/2014/main" id="{DA8AFAA9-633A-475C-B8ED-840A34F7294D}"/>
              </a:ext>
            </a:extLst>
          </p:cNvPr>
          <p:cNvSpPr>
            <a:spLocks noGrp="1"/>
          </p:cNvSpPr>
          <p:nvPr>
            <p:ph type="subTitle" idx="1"/>
          </p:nvPr>
        </p:nvSpPr>
        <p:spPr>
          <a:xfrm>
            <a:off x="6727225" y="887639"/>
            <a:ext cx="4686299" cy="5677918"/>
          </a:xfrm>
        </p:spPr>
        <p:txBody>
          <a:bodyPr/>
          <a:lstStyle/>
          <a:p>
            <a:pPr marL="285750" marR="0" lvl="0" indent="-285750">
              <a:spcBef>
                <a:spcPts val="0"/>
              </a:spcBef>
              <a:spcAft>
                <a:spcPts val="0"/>
              </a:spcAft>
              <a:buFont typeface="Wingdings" panose="05000000000000000000" pitchFamily="2" charset="2"/>
              <a:buChar char="Ø"/>
            </a:pPr>
            <a:r>
              <a:rPr lang="en-US" dirty="0">
                <a:effectLst/>
                <a:ea typeface="Georgia" panose="02040502050405020303" pitchFamily="18" charset="0"/>
                <a:cs typeface="Times New Roman" panose="02020603050405020304" pitchFamily="18" charset="0"/>
              </a:rPr>
              <a:t>On the top we embed images from Omniglot into a two dimensional vector space by using PCA.</a:t>
            </a:r>
          </a:p>
          <a:p>
            <a:pPr marR="0" lvl="0">
              <a:spcBef>
                <a:spcPts val="0"/>
              </a:spcBef>
              <a:spcAft>
                <a:spcPts val="0"/>
              </a:spcAft>
            </a:pPr>
            <a:endParaRPr lang="en-US" dirty="0">
              <a:effectLst/>
              <a:ea typeface="Georgia" panose="02040502050405020303" pitchFamily="18" charset="0"/>
              <a:cs typeface="Times New Roman" panose="02020603050405020304" pitchFamily="18" charset="0"/>
            </a:endParaRPr>
          </a:p>
          <a:p>
            <a:pPr marL="285750" marR="0" lvl="0" indent="-285750">
              <a:spcBef>
                <a:spcPts val="0"/>
              </a:spcBef>
              <a:spcAft>
                <a:spcPts val="0"/>
              </a:spcAft>
              <a:buFont typeface="Wingdings" panose="05000000000000000000" pitchFamily="2" charset="2"/>
              <a:buChar char="Ø"/>
            </a:pPr>
            <a:r>
              <a:rPr lang="en-US" dirty="0">
                <a:effectLst/>
                <a:ea typeface="Georgia" panose="02040502050405020303" pitchFamily="18" charset="0"/>
                <a:cs typeface="Times New Roman" panose="02020603050405020304" pitchFamily="18" charset="0"/>
              </a:rPr>
              <a:t>The yellow circle is the query image</a:t>
            </a:r>
          </a:p>
          <a:p>
            <a:pPr marR="0" lvl="0">
              <a:spcBef>
                <a:spcPts val="0"/>
              </a:spcBef>
              <a:spcAft>
                <a:spcPts val="0"/>
              </a:spcAft>
            </a:pPr>
            <a:endParaRPr lang="en-US" dirty="0">
              <a:effectLst/>
              <a:ea typeface="Georgia" panose="02040502050405020303" pitchFamily="18" charset="0"/>
              <a:cs typeface="Times New Roman" panose="02020603050405020304" pitchFamily="18" charset="0"/>
            </a:endParaRPr>
          </a:p>
          <a:p>
            <a:pPr marL="285750" marR="0" lvl="0" indent="-285750">
              <a:spcBef>
                <a:spcPts val="0"/>
              </a:spcBef>
              <a:spcAft>
                <a:spcPts val="0"/>
              </a:spcAft>
              <a:buFont typeface="Wingdings" panose="05000000000000000000" pitchFamily="2" charset="2"/>
              <a:buChar char="Ø"/>
            </a:pPr>
            <a:r>
              <a:rPr lang="en-US" dirty="0">
                <a:effectLst/>
                <a:ea typeface="Georgia" panose="02040502050405020303" pitchFamily="18" charset="0"/>
                <a:cs typeface="Times New Roman" panose="02020603050405020304" pitchFamily="18" charset="0"/>
              </a:rPr>
              <a:t>The cyan circles are matching images</a:t>
            </a:r>
          </a:p>
          <a:p>
            <a:pPr marR="0" lvl="0">
              <a:spcBef>
                <a:spcPts val="0"/>
              </a:spcBef>
              <a:spcAft>
                <a:spcPts val="0"/>
              </a:spcAft>
            </a:pPr>
            <a:endParaRPr lang="en-US" dirty="0">
              <a:effectLst/>
              <a:ea typeface="Georgia" panose="02040502050405020303" pitchFamily="18" charset="0"/>
              <a:cs typeface="Times New Roman" panose="02020603050405020304" pitchFamily="18" charset="0"/>
            </a:endParaRPr>
          </a:p>
          <a:p>
            <a:pPr marL="285750" marR="0" lvl="0" indent="-285750">
              <a:spcBef>
                <a:spcPts val="0"/>
              </a:spcBef>
              <a:spcAft>
                <a:spcPts val="0"/>
              </a:spcAft>
              <a:buFont typeface="Wingdings" panose="05000000000000000000" pitchFamily="2" charset="2"/>
              <a:buChar char="Ø"/>
            </a:pPr>
            <a:r>
              <a:rPr lang="en-US" dirty="0">
                <a:effectLst/>
                <a:ea typeface="Georgia" panose="02040502050405020303" pitchFamily="18" charset="0"/>
                <a:cs typeface="Times New Roman" panose="02020603050405020304" pitchFamily="18" charset="0"/>
              </a:rPr>
              <a:t>The magenta circles are mismatched images</a:t>
            </a:r>
          </a:p>
          <a:p>
            <a:pPr marR="0" lvl="0">
              <a:spcBef>
                <a:spcPts val="0"/>
              </a:spcBef>
              <a:spcAft>
                <a:spcPts val="0"/>
              </a:spcAft>
            </a:pPr>
            <a:endParaRPr lang="en-US" dirty="0">
              <a:effectLst/>
              <a:ea typeface="Georgia" panose="02040502050405020303" pitchFamily="18" charset="0"/>
              <a:cs typeface="Times New Roman" panose="02020603050405020304" pitchFamily="18" charset="0"/>
            </a:endParaRPr>
          </a:p>
          <a:p>
            <a:pPr marL="285750" marR="0" lvl="0" indent="-285750">
              <a:spcBef>
                <a:spcPts val="0"/>
              </a:spcBef>
              <a:spcAft>
                <a:spcPts val="0"/>
              </a:spcAft>
              <a:buFont typeface="Wingdings" panose="05000000000000000000" pitchFamily="2" charset="2"/>
              <a:buChar char="Ø"/>
            </a:pPr>
            <a:r>
              <a:rPr lang="en-US" dirty="0">
                <a:effectLst/>
                <a:ea typeface="Georgia" panose="02040502050405020303" pitchFamily="18" charset="0"/>
                <a:cs typeface="Times New Roman" panose="02020603050405020304" pitchFamily="18" charset="0"/>
              </a:rPr>
              <a:t>Note that is would be difficult to classify the images correctly using a simple metric Sach as Euclidian</a:t>
            </a:r>
          </a:p>
          <a:p>
            <a:pPr marR="0" lvl="0">
              <a:spcBef>
                <a:spcPts val="0"/>
              </a:spcBef>
              <a:spcAft>
                <a:spcPts val="0"/>
              </a:spcAft>
            </a:pPr>
            <a:endParaRPr lang="en-US" dirty="0">
              <a:effectLst/>
              <a:ea typeface="Georgia" panose="02040502050405020303" pitchFamily="18" charset="0"/>
              <a:cs typeface="Times New Roman" panose="02020603050405020304" pitchFamily="18" charset="0"/>
            </a:endParaRPr>
          </a:p>
          <a:p>
            <a:pPr marL="285750" marR="0" lvl="0" indent="-285750">
              <a:spcBef>
                <a:spcPts val="0"/>
              </a:spcBef>
              <a:spcAft>
                <a:spcPts val="0"/>
              </a:spcAft>
              <a:buFont typeface="Wingdings" panose="05000000000000000000" pitchFamily="2" charset="2"/>
              <a:buChar char="Ø"/>
            </a:pPr>
            <a:r>
              <a:rPr lang="en-US" dirty="0">
                <a:effectLst/>
                <a:ea typeface="Georgia" panose="02040502050405020303" pitchFamily="18" charset="0"/>
                <a:cs typeface="Times New Roman" panose="02020603050405020304" pitchFamily="18" charset="0"/>
              </a:rPr>
              <a:t>On the bottom we display the penultimate activation layer of the relation network PCAed to 2 dimensions</a:t>
            </a:r>
          </a:p>
          <a:p>
            <a:pPr marR="0" lvl="0">
              <a:spcBef>
                <a:spcPts val="0"/>
              </a:spcBef>
              <a:spcAft>
                <a:spcPts val="0"/>
              </a:spcAft>
            </a:pPr>
            <a:endParaRPr lang="en-US" dirty="0">
              <a:effectLst/>
              <a:ea typeface="Georgia" panose="02040502050405020303" pitchFamily="18" charset="0"/>
              <a:cs typeface="Times New Roman" panose="02020603050405020304" pitchFamily="18" charset="0"/>
            </a:endParaRPr>
          </a:p>
          <a:p>
            <a:pPr marL="285750" marR="0" lvl="0" indent="-285750">
              <a:spcBef>
                <a:spcPts val="0"/>
              </a:spcBef>
              <a:spcAft>
                <a:spcPts val="0"/>
              </a:spcAft>
              <a:buFont typeface="Wingdings" panose="05000000000000000000" pitchFamily="2" charset="2"/>
              <a:buChar char="Ø"/>
            </a:pPr>
            <a:r>
              <a:rPr lang="en-US" dirty="0">
                <a:effectLst/>
                <a:ea typeface="Georgia" panose="02040502050405020303" pitchFamily="18" charset="0"/>
                <a:cs typeface="Times New Roman" panose="02020603050405020304" pitchFamily="18" charset="0"/>
              </a:rPr>
              <a:t>Queries are yellow and samples are magenta</a:t>
            </a:r>
          </a:p>
          <a:p>
            <a:pPr marL="285750" marR="0" lvl="0" indent="-285750">
              <a:spcBef>
                <a:spcPts val="0"/>
              </a:spcBef>
              <a:spcAft>
                <a:spcPts val="0"/>
              </a:spcAft>
              <a:buFont typeface="Wingdings" panose="05000000000000000000" pitchFamily="2" charset="2"/>
              <a:buChar char="Ø"/>
            </a:pPr>
            <a:endParaRPr lang="en-US" dirty="0">
              <a:ea typeface="Georgia" panose="02040502050405020303" pitchFamily="18" charset="0"/>
              <a:cs typeface="Times New Roman" panose="02020603050405020304" pitchFamily="18" charset="0"/>
            </a:endParaRPr>
          </a:p>
          <a:p>
            <a:pPr marL="285750" marR="0" lvl="0" indent="-285750">
              <a:spcBef>
                <a:spcPts val="0"/>
              </a:spcBef>
              <a:spcAft>
                <a:spcPts val="0"/>
              </a:spcAft>
              <a:buFont typeface="Wingdings" panose="05000000000000000000" pitchFamily="2" charset="2"/>
              <a:buChar char="Ø"/>
            </a:pPr>
            <a:r>
              <a:rPr lang="en-US" dirty="0">
                <a:effectLst/>
                <a:ea typeface="Georgia" panose="02040502050405020303" pitchFamily="18" charset="0"/>
                <a:cs typeface="Times New Roman" panose="02020603050405020304" pitchFamily="18" charset="0"/>
              </a:rPr>
              <a:t>Here this space can now be linearly separated by the final layer of the RN</a:t>
            </a:r>
          </a:p>
          <a:p>
            <a:pPr marL="285750" marR="0" lvl="0" indent="-285750">
              <a:spcBef>
                <a:spcPts val="0"/>
              </a:spcBef>
              <a:spcAft>
                <a:spcPts val="0"/>
              </a:spcAft>
              <a:buFont typeface="Wingdings" panose="05000000000000000000" pitchFamily="2" charset="2"/>
              <a:buChar char="Ø"/>
            </a:pPr>
            <a:endParaRPr lang="en-US" sz="1800" dirty="0">
              <a:effectLst/>
              <a:ea typeface="Georgia" panose="02040502050405020303"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14A1DD4-F8BD-4BEF-AD9D-7786FEB559D5}"/>
              </a:ext>
            </a:extLst>
          </p:cNvPr>
          <p:cNvPicPr>
            <a:picLocks noChangeAspect="1"/>
          </p:cNvPicPr>
          <p:nvPr/>
        </p:nvPicPr>
        <p:blipFill>
          <a:blip r:embed="rId2"/>
          <a:stretch>
            <a:fillRect/>
          </a:stretch>
        </p:blipFill>
        <p:spPr>
          <a:xfrm>
            <a:off x="778476" y="1137918"/>
            <a:ext cx="5306165" cy="4582164"/>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18137635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40014-73D5-419B-8867-972BB18D52D4}"/>
              </a:ext>
            </a:extLst>
          </p:cNvPr>
          <p:cNvSpPr>
            <a:spLocks noGrp="1"/>
          </p:cNvSpPr>
          <p:nvPr>
            <p:ph type="title"/>
          </p:nvPr>
        </p:nvSpPr>
        <p:spPr>
          <a:xfrm>
            <a:off x="2933700" y="572757"/>
            <a:ext cx="8421688" cy="1644984"/>
          </a:xfrm>
        </p:spPr>
        <p:txBody>
          <a:bodyPr/>
          <a:lstStyle/>
          <a:p>
            <a:r>
              <a:rPr lang="en-US" dirty="0"/>
              <a:t>Conclusion</a:t>
            </a:r>
          </a:p>
        </p:txBody>
      </p:sp>
      <p:sp>
        <p:nvSpPr>
          <p:cNvPr id="4" name="Content Placeholder 3">
            <a:extLst>
              <a:ext uri="{FF2B5EF4-FFF2-40B4-BE49-F238E27FC236}">
                <a16:creationId xmlns:a16="http://schemas.microsoft.com/office/drawing/2014/main" id="{33D8731E-4977-402E-8BFD-895B4D0544CC}"/>
              </a:ext>
            </a:extLst>
          </p:cNvPr>
          <p:cNvSpPr>
            <a:spLocks noGrp="1"/>
          </p:cNvSpPr>
          <p:nvPr>
            <p:ph sz="half" idx="2"/>
          </p:nvPr>
        </p:nvSpPr>
        <p:spPr>
          <a:xfrm>
            <a:off x="2933699" y="2636108"/>
            <a:ext cx="8516895" cy="1762897"/>
          </a:xfrm>
        </p:spPr>
        <p:txBody>
          <a:bodyPr>
            <a:normAutofit/>
          </a:bodyPr>
          <a:lstStyle/>
          <a:p>
            <a:pPr marL="285750" indent="-285750">
              <a:buFont typeface="Wingdings" panose="05000000000000000000" pitchFamily="2" charset="2"/>
              <a:buChar char="Ø"/>
            </a:pPr>
            <a:r>
              <a:rPr lang="en-US" dirty="0"/>
              <a:t>RN was proposed to do C-way K-shot learning</a:t>
            </a:r>
          </a:p>
          <a:p>
            <a:pPr marL="285750" indent="-285750">
              <a:buFont typeface="Wingdings" panose="05000000000000000000" pitchFamily="2" charset="2"/>
              <a:buChar char="Ø"/>
            </a:pPr>
            <a:r>
              <a:rPr lang="en-US" dirty="0"/>
              <a:t>The RN learns an embedding and a deep non-linear metric for comparing query and sample objects.(Episode training is used)</a:t>
            </a:r>
          </a:p>
          <a:p>
            <a:pPr marL="285750" indent="-285750">
              <a:buFont typeface="Wingdings" panose="05000000000000000000" pitchFamily="2" charset="2"/>
              <a:buChar char="Ø"/>
            </a:pPr>
            <a:r>
              <a:rPr lang="en-US" dirty="0"/>
              <a:t>RN is simpler and more efficient that other C-way K-shot methods.</a:t>
            </a:r>
          </a:p>
          <a:p>
            <a:pPr marL="285750" indent="-285750">
              <a:buFont typeface="Wingdings" panose="05000000000000000000" pitchFamily="2" charset="2"/>
              <a:buChar char="Ø"/>
            </a:pPr>
            <a:r>
              <a:rPr lang="en-US" dirty="0"/>
              <a:t>It is state-of-the art.</a:t>
            </a:r>
          </a:p>
        </p:txBody>
      </p:sp>
      <p:sp>
        <p:nvSpPr>
          <p:cNvPr id="7" name="Date Placeholder 6">
            <a:extLst>
              <a:ext uri="{FF2B5EF4-FFF2-40B4-BE49-F238E27FC236}">
                <a16:creationId xmlns:a16="http://schemas.microsoft.com/office/drawing/2014/main" id="{B2A46C4A-D036-4440-BB64-6754F4FF27C1}"/>
              </a:ext>
            </a:extLst>
          </p:cNvPr>
          <p:cNvSpPr>
            <a:spLocks noGrp="1"/>
          </p:cNvSpPr>
          <p:nvPr>
            <p:ph type="dt" sz="half" idx="10"/>
          </p:nvPr>
        </p:nvSpPr>
        <p:spPr>
          <a:xfrm>
            <a:off x="838200" y="6356350"/>
            <a:ext cx="2743200" cy="365125"/>
          </a:xfrm>
        </p:spPr>
        <p:txBody>
          <a:bodyPr/>
          <a:lstStyle/>
          <a:p>
            <a:r>
              <a:rPr lang="en-US" dirty="0"/>
              <a:t>20XX</a:t>
            </a:r>
          </a:p>
        </p:txBody>
      </p:sp>
      <p:sp>
        <p:nvSpPr>
          <p:cNvPr id="8" name="Footer Placeholder 7">
            <a:extLst>
              <a:ext uri="{FF2B5EF4-FFF2-40B4-BE49-F238E27FC236}">
                <a16:creationId xmlns:a16="http://schemas.microsoft.com/office/drawing/2014/main" id="{905F172A-5D5D-43CD-A187-DA0D303F4144}"/>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9" name="Slide Number Placeholder 8">
            <a:extLst>
              <a:ext uri="{FF2B5EF4-FFF2-40B4-BE49-F238E27FC236}">
                <a16:creationId xmlns:a16="http://schemas.microsoft.com/office/drawing/2014/main" id="{C396FFDC-ADE8-4009-A466-A81787258E88}"/>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16</a:t>
            </a:fld>
            <a:endParaRPr lang="en-US" dirty="0"/>
          </a:p>
        </p:txBody>
      </p:sp>
    </p:spTree>
    <p:extLst>
      <p:ext uri="{BB962C8B-B14F-4D97-AF65-F5344CB8AC3E}">
        <p14:creationId xmlns:p14="http://schemas.microsoft.com/office/powerpoint/2010/main" val="1901923229"/>
      </p:ext>
    </p:extLst>
  </p:cSld>
  <p:clrMapOvr>
    <a:masterClrMapping/>
  </p:clrMapOvr>
</p:sld>
</file>

<file path=ppt/theme/theme1.xml><?xml version="1.0" encoding="utf-8"?>
<a:theme xmlns:a="http://schemas.openxmlformats.org/drawingml/2006/main" name="Custom">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nimalist presentation_Win32_SL_V5" id="{DBE773F4-03EF-460F-8123-2ED25579554B}" vid="{FED336E3-054A-486F-8CDB-8815D6B39CB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ECBB7AC-E012-4960-B083-33C7C7C0C8C8}">
  <ds:schemaRefs>
    <ds:schemaRef ds:uri="http://schemas.microsoft.com/sharepoint/v3/contenttype/forms"/>
  </ds:schemaRefs>
</ds:datastoreItem>
</file>

<file path=customXml/itemProps2.xml><?xml version="1.0" encoding="utf-8"?>
<ds:datastoreItem xmlns:ds="http://schemas.openxmlformats.org/officeDocument/2006/customXml" ds:itemID="{CA05327A-3F11-4B74-87F2-F91762B92A4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676A8F61-3FE0-4499-9D74-D8DA5DD8FDF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Minimalist presentation</Template>
  <TotalTime>59</TotalTime>
  <Words>1005</Words>
  <Application>Microsoft Office PowerPoint</Application>
  <PresentationFormat>Widescreen</PresentationFormat>
  <Paragraphs>146</Paragraphs>
  <Slides>16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Ebrima</vt:lpstr>
      <vt:lpstr>Georgia</vt:lpstr>
      <vt:lpstr>Tenorite</vt:lpstr>
      <vt:lpstr>Wingdings</vt:lpstr>
      <vt:lpstr>Custom</vt:lpstr>
      <vt:lpstr>Learning to Compare:  Relation Network for Few-Shot Learning</vt:lpstr>
      <vt:lpstr>Motivation</vt:lpstr>
      <vt:lpstr>Motivation contd.</vt:lpstr>
      <vt:lpstr>RN Methodology </vt:lpstr>
      <vt:lpstr>RN Methodology contd.</vt:lpstr>
      <vt:lpstr>RN Methodology </vt:lpstr>
      <vt:lpstr>PowerPoint Presentation</vt:lpstr>
      <vt:lpstr>PowerPoint Presentation</vt:lpstr>
      <vt:lpstr>RN Classification example 5 way 1 shot</vt:lpstr>
      <vt:lpstr>RN - Network Architecture</vt:lpstr>
      <vt:lpstr>Datasets: omniglot</vt:lpstr>
      <vt:lpstr>Datasets: mini imagenet</vt:lpstr>
      <vt:lpstr>Omniglot – experimental results</vt:lpstr>
      <vt:lpstr>Why relational networks?</vt:lpstr>
      <vt:lpstr>Visualization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Learning to Compare:  Relation Network for Few-Shot Learning</dc:title>
  <dc:creator>Saka Poopoo</dc:creator>
  <cp:lastModifiedBy>Saka Poopoo</cp:lastModifiedBy>
  <cp:revision>30</cp:revision>
  <dcterms:created xsi:type="dcterms:W3CDTF">2023-10-11T17:24:47Z</dcterms:created>
  <dcterms:modified xsi:type="dcterms:W3CDTF">2023-10-11T18:25:40Z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