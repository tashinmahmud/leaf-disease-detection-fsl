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16"/>
  </p:notesMasterIdLst>
  <p:handoutMasterIdLst>
    <p:handoutMasterId r:id="rId17"/>
  </p:handoutMasterIdLst>
  <p:sldIdLst>
    <p:sldId id="261" r:id="rId5"/>
    <p:sldId id="273" r:id="rId6"/>
    <p:sldId id="314" r:id="rId7"/>
    <p:sldId id="315" r:id="rId8"/>
    <p:sldId id="280" r:id="rId9"/>
    <p:sldId id="286" r:id="rId10"/>
    <p:sldId id="300" r:id="rId11"/>
    <p:sldId id="302" r:id="rId12"/>
    <p:sldId id="306" r:id="rId13"/>
    <p:sldId id="308" r:id="rId14"/>
    <p:sldId id="31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87175F"/>
    <a:srgbClr val="EEC621"/>
    <a:srgbClr val="E58C09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0" autoAdjust="0"/>
    <p:restoredTop sz="95034" autoAdjust="0"/>
  </p:normalViewPr>
  <p:slideViewPr>
    <p:cSldViewPr>
      <p:cViewPr varScale="1">
        <p:scale>
          <a:sx n="59" d="100"/>
          <a:sy n="59" d="100"/>
        </p:scale>
        <p:origin x="90" y="582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F33-483B-8984-67AD3F15958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5F33-483B-8984-67AD3F1595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F33-483B-8984-67AD3F15958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F33-483B-8984-67AD3F15958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3-483B-8984-67AD3F1595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24-Sep-23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24-Sep-23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5449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98684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24746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5294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00598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54146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2231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18251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3297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8.jp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Prototypical Networks for Few-shot Learning </a:t>
            </a:r>
            <a:br>
              <a:rPr lang="en-US" dirty="0"/>
            </a:b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0" y="4038600"/>
            <a:ext cx="7315199" cy="1722119"/>
          </a:xfrm>
        </p:spPr>
        <p:txBody>
          <a:bodyPr>
            <a:normAutofit fontScale="92500" lnSpcReduction="10000"/>
          </a:bodyPr>
          <a:lstStyle/>
          <a:p>
            <a:r>
              <a:rPr lang="en-US" b="1" i="1" u="sng" dirty="0"/>
              <a:t>Jake Snell </a:t>
            </a:r>
            <a:br>
              <a:rPr lang="en-US" dirty="0"/>
            </a:br>
            <a:r>
              <a:rPr lang="en-US" dirty="0"/>
              <a:t>University of Toronto </a:t>
            </a:r>
            <a:br>
              <a:rPr lang="en-US" dirty="0"/>
            </a:br>
            <a:r>
              <a:rPr lang="en-US" b="1" i="1" u="sng" dirty="0"/>
              <a:t>Kevin Swersky </a:t>
            </a:r>
            <a:br>
              <a:rPr lang="en-US" dirty="0"/>
            </a:br>
            <a:r>
              <a:rPr lang="en-US" dirty="0"/>
              <a:t>Twitter </a:t>
            </a:r>
            <a:br>
              <a:rPr lang="en-US" dirty="0"/>
            </a:br>
            <a:r>
              <a:rPr lang="en-US" b="1" i="1" u="sng" dirty="0"/>
              <a:t>Richard S. Zemel </a:t>
            </a:r>
            <a:br>
              <a:rPr lang="en-US" dirty="0"/>
            </a:br>
            <a:r>
              <a:rPr lang="en-US" dirty="0"/>
              <a:t>University of Toronto, Vector Institute</a:t>
            </a:r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244A551-AEDC-449F-963D-23C231419B77}"/>
              </a:ext>
            </a:extLst>
          </p:cNvPr>
          <p:cNvSpPr/>
          <p:nvPr/>
        </p:nvSpPr>
        <p:spPr>
          <a:xfrm>
            <a:off x="548640" y="2438400"/>
            <a:ext cx="10288693" cy="3813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0805160" cy="707886"/>
          </a:xfrm>
        </p:spPr>
        <p:txBody>
          <a:bodyPr/>
          <a:lstStyle/>
          <a:p>
            <a:r>
              <a:rPr lang="en-US" dirty="0"/>
              <a:t>Unique contribution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1622286"/>
            <a:ext cx="10288693" cy="47053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paper addresses the problem of few-shot classification, where a classifier needs to generalize to new classes not seen during training, with only a small number of examples available for each new class. The authors propose a novel approach called "prototypical networks" for addressing this problem.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Few-shot classification is challenging but has been shown to be achievable by humans.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Existing approaches like matching networks and meta-learning have made progress in few-shot learning.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The paper focuses on addressing the issue of overfitting in few-shot learning by adopting a simple inductive bias.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Prototypical networks are designed to create a metric space where classification is based on distances to prototype representations of each class.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They learn a non-linear mapping of input data into an embedding space using a neural network.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The prototype for each class is computed as the mean of its support set in the embedding space.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Classification of a query point is done by finding the nearest class prototype.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55F6837-14F9-4F32-87D0-7384CE9EE261}"/>
              </a:ext>
            </a:extLst>
          </p:cNvPr>
          <p:cNvSpPr/>
          <p:nvPr/>
        </p:nvSpPr>
        <p:spPr>
          <a:xfrm>
            <a:off x="-27214" y="1015108"/>
            <a:ext cx="10134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06298F-C11A-4981-BCD0-440355A5E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553" y="489857"/>
            <a:ext cx="9088118" cy="330563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B201B31-F571-480E-B933-2A83826FF241}"/>
              </a:ext>
            </a:extLst>
          </p:cNvPr>
          <p:cNvSpPr/>
          <p:nvPr/>
        </p:nvSpPr>
        <p:spPr>
          <a:xfrm>
            <a:off x="628788" y="3795492"/>
            <a:ext cx="10208545" cy="25443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060" y="3828150"/>
            <a:ext cx="10144273" cy="2499498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Figure</a:t>
            </a:r>
            <a:r>
              <a:rPr lang="en-US" sz="2800" i="1" dirty="0">
                <a:solidFill>
                  <a:schemeClr val="bg1"/>
                </a:solidFill>
              </a:rPr>
              <a:t>: Prototypical networks in the few-shot and zero-shot scenarios. </a:t>
            </a:r>
          </a:p>
          <a:p>
            <a:pPr marL="0" indent="0" algn="ctr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Left</a:t>
            </a:r>
            <a:r>
              <a:rPr lang="en-US" sz="2800" i="1" dirty="0">
                <a:solidFill>
                  <a:schemeClr val="bg1"/>
                </a:solidFill>
              </a:rPr>
              <a:t>: Few-shot prototypes ck are computed as the mean of embedded support examples for each class. </a:t>
            </a:r>
          </a:p>
          <a:p>
            <a:pPr marL="0" indent="0" algn="ctr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Right</a:t>
            </a:r>
            <a:r>
              <a:rPr lang="en-US" sz="2800" i="1" dirty="0">
                <a:solidFill>
                  <a:schemeClr val="bg1"/>
                </a:solidFill>
              </a:rPr>
              <a:t>: Zero-shot prototypes ck are produced by embedding class meta-data vk. </a:t>
            </a:r>
          </a:p>
          <a:p>
            <a:pPr marL="0" indent="0" algn="ctr">
              <a:buNone/>
            </a:pPr>
            <a:r>
              <a:rPr lang="en-US" sz="2800" i="1" dirty="0">
                <a:solidFill>
                  <a:schemeClr val="bg1"/>
                </a:solidFill>
              </a:rPr>
              <a:t>In either case, embedded query points are classified via a SoftMax over distances to class prototypes: p</a:t>
            </a:r>
            <a:r>
              <a:rPr lang="el-GR" sz="2800" i="1" dirty="0">
                <a:solidFill>
                  <a:schemeClr val="bg1"/>
                </a:solidFill>
              </a:rPr>
              <a:t>φ(</a:t>
            </a:r>
            <a:r>
              <a:rPr lang="en-US" sz="2800" i="1" dirty="0">
                <a:solidFill>
                  <a:schemeClr val="bg1"/>
                </a:solidFill>
              </a:rPr>
              <a:t>y = k|x) ∝ exp(−d(f</a:t>
            </a:r>
            <a:r>
              <a:rPr lang="el-GR" sz="2800" i="1" dirty="0">
                <a:solidFill>
                  <a:schemeClr val="bg1"/>
                </a:solidFill>
              </a:rPr>
              <a:t>φ(</a:t>
            </a:r>
            <a:r>
              <a:rPr lang="en-US" sz="2800" i="1" dirty="0">
                <a:solidFill>
                  <a:schemeClr val="bg1"/>
                </a:solidFill>
              </a:rPr>
              <a:t>x), ck))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</p:spTree>
    <p:extLst>
      <p:ext uri="{BB962C8B-B14F-4D97-AF65-F5344CB8AC3E}">
        <p14:creationId xmlns:p14="http://schemas.microsoft.com/office/powerpoint/2010/main" val="498176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6FDACBD-3D99-499A-8627-18B2E72DD0A8}"/>
              </a:ext>
            </a:extLst>
          </p:cNvPr>
          <p:cNvSpPr/>
          <p:nvPr/>
        </p:nvSpPr>
        <p:spPr>
          <a:xfrm>
            <a:off x="548640" y="1622286"/>
            <a:ext cx="10805160" cy="43975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0805160" cy="707886"/>
          </a:xfrm>
        </p:spPr>
        <p:txBody>
          <a:bodyPr/>
          <a:lstStyle/>
          <a:p>
            <a:r>
              <a:rPr lang="en-US" dirty="0"/>
              <a:t>Unique contribution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209800"/>
            <a:ext cx="10288693" cy="3810000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The choice of distance metric is crucial. The paper emphasizes the use of squared Euclidean distance over cosine similarity.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The authors relate prototypical networks to clustering and justify the use of class means as prototypes, especially when using Bregman divergence-based distances.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Prototypical networks achieve state-of-the-art performance on several benchmark tasks for both few-shot and zero-shot learning.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The authors highlight that prototypical networks are simpler and more efficient compared to recent meta-learning algorithms.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55F6837-14F9-4F32-87D0-7384CE9EE261}"/>
              </a:ext>
            </a:extLst>
          </p:cNvPr>
          <p:cNvSpPr/>
          <p:nvPr/>
        </p:nvSpPr>
        <p:spPr>
          <a:xfrm>
            <a:off x="-27214" y="1015108"/>
            <a:ext cx="10134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22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F890B92-D44D-461B-A5E6-D4F348791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12976"/>
            <a:ext cx="12191999" cy="3278423"/>
          </a:xfr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3429000"/>
            <a:ext cx="4983058" cy="2715539"/>
          </a:xfrm>
        </p:spPr>
        <p:txBody>
          <a:bodyPr>
            <a:noAutofit/>
          </a:bodyPr>
          <a:lstStyle/>
          <a:p>
            <a:r>
              <a:rPr lang="en-US" sz="8800" dirty="0"/>
              <a:t>Dataset </a:t>
            </a:r>
            <a:br>
              <a:rPr lang="en-US" sz="8800" dirty="0"/>
            </a:br>
            <a:r>
              <a:rPr lang="en-US" sz="8800" dirty="0"/>
              <a:t>details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6C6147-EB04-429F-9D41-52F18DE23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2" name="Text Placeholder 119">
            <a:extLst>
              <a:ext uri="{FF2B5EF4-FFF2-40B4-BE49-F238E27FC236}">
                <a16:creationId xmlns:a16="http://schemas.microsoft.com/office/drawing/2014/main" id="{D9043C6D-0761-489D-8401-7F976D80B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D5E95B5-674E-4A3A-A7C5-83CFC4114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Placeholder 6" descr="Bar chart with solid fill">
            <a:extLst>
              <a:ext uri="{FF2B5EF4-FFF2-40B4-BE49-F238E27FC236}">
                <a16:creationId xmlns:a16="http://schemas.microsoft.com/office/drawing/2014/main" id="{0372EB83-0DF2-4E37-AE13-6092224FCB69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53" r="853"/>
          <a:stretch>
            <a:fillRect/>
          </a:stretch>
        </p:blipFill>
        <p:spPr/>
      </p:pic>
      <p:pic>
        <p:nvPicPr>
          <p:cNvPr id="9" name="Picture 8" descr="Magnifying glass showing decling performance">
            <a:extLst>
              <a:ext uri="{FF2B5EF4-FFF2-40B4-BE49-F238E27FC236}">
                <a16:creationId xmlns:a16="http://schemas.microsoft.com/office/drawing/2014/main" id="{3E99FE68-2E97-4BE7-99E2-38BE3B83CD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6038" y="2249722"/>
            <a:ext cx="4458789" cy="2971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56204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2B9606-F9BC-40CD-9467-6348ACE41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682397A-D234-4487-8E63-23B79C76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7199992-58FE-4335-A811-6AFA96B5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Omniglot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F8FCB52-DD55-48F6-9F4A-D2A0F6586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052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159CE94-EE70-4045-992F-C8AF0576E34A}"/>
              </a:ext>
            </a:extLst>
          </p:cNvPr>
          <p:cNvSpPr/>
          <p:nvPr/>
        </p:nvSpPr>
        <p:spPr>
          <a:xfrm>
            <a:off x="548640" y="1698486"/>
            <a:ext cx="10576560" cy="45532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details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0F4F9B-7D29-4BED-87FB-3F3D1724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9" name="Text Placeholder 119">
            <a:extLst>
              <a:ext uri="{FF2B5EF4-FFF2-40B4-BE49-F238E27FC236}">
                <a16:creationId xmlns:a16="http://schemas.microsoft.com/office/drawing/2014/main" id="{4DE3975B-F441-486B-9317-C176CC96B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33BF51-E225-4994-A8CB-B08142FEEF37}"/>
              </a:ext>
            </a:extLst>
          </p:cNvPr>
          <p:cNvSpPr txBox="1"/>
          <p:nvPr/>
        </p:nvSpPr>
        <p:spPr>
          <a:xfrm>
            <a:off x="866796" y="1847909"/>
            <a:ext cx="1086800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i="0" dirty="0">
                <a:solidFill>
                  <a:schemeClr val="bg1"/>
                </a:solidFill>
                <a:effectLst/>
              </a:rPr>
              <a:t>Data Preprocessing: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chemeClr val="bg1"/>
                </a:solidFill>
                <a:effectLst/>
              </a:rPr>
              <a:t>The grayscale images in the Omniglot dataset are resized to 28x28 pixels.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chemeClr val="bg1"/>
                </a:solidFill>
                <a:effectLst/>
              </a:rPr>
              <a:t>Character classes are augmented with rotations in multiples of 90 degrees.</a:t>
            </a:r>
          </a:p>
          <a:p>
            <a:pPr algn="l"/>
            <a:endParaRPr lang="en-US" sz="2000" i="0" dirty="0">
              <a:solidFill>
                <a:schemeClr val="bg1"/>
              </a:solidFill>
              <a:effectLst/>
            </a:endParaRPr>
          </a:p>
          <a:p>
            <a:pPr algn="l"/>
            <a:r>
              <a:rPr lang="en-US" sz="2000" i="0" dirty="0">
                <a:solidFill>
                  <a:schemeClr val="bg1"/>
                </a:solidFill>
                <a:effectLst/>
              </a:rPr>
              <a:t>Training and Testing Split: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chemeClr val="bg1"/>
                </a:solidFill>
                <a:effectLst/>
              </a:rPr>
              <a:t>4,800 classes (including rotations) are used for training.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chemeClr val="bg1"/>
                </a:solidFill>
                <a:effectLst/>
              </a:rPr>
              <a:t>The remaining classes (including rotations) are used for testing.</a:t>
            </a:r>
          </a:p>
          <a:p>
            <a:pPr algn="l"/>
            <a:endParaRPr lang="en-US" sz="2000" i="0" dirty="0">
              <a:solidFill>
                <a:schemeClr val="bg1"/>
              </a:solidFill>
              <a:effectLst/>
            </a:endParaRPr>
          </a:p>
          <a:p>
            <a:pPr algn="l"/>
            <a:r>
              <a:rPr lang="en-US" sz="2000" i="0" dirty="0">
                <a:solidFill>
                  <a:schemeClr val="bg1"/>
                </a:solidFill>
                <a:effectLst/>
              </a:rPr>
              <a:t>Embedding Architecture: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chemeClr val="bg1"/>
                </a:solidFill>
                <a:effectLst/>
              </a:rPr>
              <a:t>The architecture for embedding follows the one used by Vinyals et al., consisting of four convolutional blocks.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chemeClr val="bg1"/>
                </a:solidFill>
                <a:effectLst/>
              </a:rPr>
              <a:t>Each block includes a 64-filter 3x3 convolution layer, batch normalization layer, ReLU nonlinearity, and a 2x2 max-pooling layer.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chemeClr val="bg1"/>
                </a:solidFill>
                <a:effectLst/>
              </a:rPr>
              <a:t>This architecture results in a 64-dimensional output space.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175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11670C9-7A12-431E-92B2-050F2389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TEAM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D9EB77-3854-428A-99DF-5F6FB999E4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37B7E0-A907-45B1-854A-895D985A53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FIRSTNAME LASTNAME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D416F1B-2260-46A3-8712-BD1EA50EFF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Designation | Description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2EFCA5F8-2322-4618-9000-E296A1B5768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Firstname Lastname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B79AF253-AC40-4AA1-AFA7-9A4836DA01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Firstname Lastname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B4D30168-25CE-4C20-BBE9-2C5590AFEB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Firstname Lastname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AFBC632A-A085-45FB-8A22-A087AB251AE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Firstname Lastname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B0F79018-7E80-4F11-97D6-C1AC907028C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Firstname Lastname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BFB39279-C8C5-49A2-A66B-0E32CBBA58E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Firstname Lastname</a:t>
            </a:r>
          </a:p>
        </p:txBody>
      </p:sp>
      <p:sp>
        <p:nvSpPr>
          <p:cNvPr id="14" name="Text Placeholder 119">
            <a:extLst>
              <a:ext uri="{FF2B5EF4-FFF2-40B4-BE49-F238E27FC236}">
                <a16:creationId xmlns:a16="http://schemas.microsoft.com/office/drawing/2014/main" id="{E4C8DF3B-1E41-46C5-80F8-C3025F332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64A7FBF-2DE0-4849-9DC7-AB2BCC1ED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5F9EA9A4-B365-45B0-9991-F68DF2337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8832" y="2223786"/>
            <a:ext cx="1005836" cy="1005836"/>
          </a:xfrm>
        </p:spPr>
      </p:pic>
      <p:pic>
        <p:nvPicPr>
          <p:cNvPr id="40" name="Picture Placeholder 11">
            <a:extLst>
              <a:ext uri="{FF2B5EF4-FFF2-40B4-BE49-F238E27FC236}">
                <a16:creationId xmlns:a16="http://schemas.microsoft.com/office/drawing/2014/main" id="{9A1098EC-17B9-4663-931A-7EC2A74CD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9" b="79"/>
          <a:stretch/>
        </p:blipFill>
        <p:spPr>
          <a:xfrm>
            <a:off x="5426075" y="3663950"/>
            <a:ext cx="1006475" cy="1004888"/>
          </a:xfrm>
        </p:spPr>
      </p:pic>
      <p:pic>
        <p:nvPicPr>
          <p:cNvPr id="42" name="Picture Placeholder 11">
            <a:extLst>
              <a:ext uri="{FF2B5EF4-FFF2-40B4-BE49-F238E27FC236}">
                <a16:creationId xmlns:a16="http://schemas.microsoft.com/office/drawing/2014/main" id="{42823932-792D-43FD-8EB3-8E8407FD8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08488" y="5089525"/>
            <a:ext cx="1006475" cy="1006475"/>
          </a:xfrm>
        </p:spPr>
      </p:pic>
      <p:pic>
        <p:nvPicPr>
          <p:cNvPr id="44" name="Picture Placeholder 11">
            <a:extLst>
              <a:ext uri="{FF2B5EF4-FFF2-40B4-BE49-F238E27FC236}">
                <a16:creationId xmlns:a16="http://schemas.microsoft.com/office/drawing/2014/main" id="{74D86A10-BCCD-4CE2-9A36-D852A1A67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7450" y="5089525"/>
            <a:ext cx="1006475" cy="1006475"/>
          </a:xfrm>
        </p:spPr>
      </p:pic>
      <p:pic>
        <p:nvPicPr>
          <p:cNvPr id="46" name="Picture Placeholder 11">
            <a:extLst>
              <a:ext uri="{FF2B5EF4-FFF2-40B4-BE49-F238E27FC236}">
                <a16:creationId xmlns:a16="http://schemas.microsoft.com/office/drawing/2014/main" id="{E8BEFAE8-8E1F-471E-9FDC-C0CB51ADC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9" b="79"/>
          <a:stretch/>
        </p:blipFill>
        <p:spPr>
          <a:xfrm>
            <a:off x="8555038" y="3663950"/>
            <a:ext cx="1006475" cy="1004888"/>
          </a:xfrm>
        </p:spPr>
      </p:pic>
      <p:pic>
        <p:nvPicPr>
          <p:cNvPr id="48" name="Picture Placeholder 11">
            <a:extLst>
              <a:ext uri="{FF2B5EF4-FFF2-40B4-BE49-F238E27FC236}">
                <a16:creationId xmlns:a16="http://schemas.microsoft.com/office/drawing/2014/main" id="{9982CF15-E391-4403-8701-6F22884F8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9" b="79"/>
          <a:stretch/>
        </p:blipFill>
        <p:spPr>
          <a:xfrm>
            <a:off x="9586913" y="2224088"/>
            <a:ext cx="1006475" cy="1004887"/>
          </a:xfrm>
        </p:spPr>
      </p:pic>
    </p:spTree>
    <p:extLst>
      <p:ext uri="{BB962C8B-B14F-4D97-AF65-F5344CB8AC3E}">
        <p14:creationId xmlns:p14="http://schemas.microsoft.com/office/powerpoint/2010/main" val="2596912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FBCF731-478B-42B2-B3C6-ECCC3D68E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329286" cy="6858000"/>
          </a:xfr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C20719F7-6849-4C36-ACDB-C1AE2AAC7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CF39D3B5-ABDB-4DFF-8107-EF97569C9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“QUOTE”</a:t>
            </a:r>
          </a:p>
        </p:txBody>
      </p:sp>
      <p:sp>
        <p:nvSpPr>
          <p:cNvPr id="44" name="Subtitle 43">
            <a:extLst>
              <a:ext uri="{FF2B5EF4-FFF2-40B4-BE49-F238E27FC236}">
                <a16:creationId xmlns:a16="http://schemas.microsoft.com/office/drawing/2014/main" id="{F522C824-2C48-4465-AABE-F46286D9EC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ipsum dolor sit amet, consectetuer adipiscing elit. Maecenas porttitor congue massa. Fusce posuere, magna sed pulvinar ultricies, purus lectus malesuada libero, sit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6488F643-327C-4A41-9703-B4932AF5A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8EE4272D-3A75-4E40-B1D6-C8D1636AB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840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24509E-BB74-42FE-A9A8-F01572CD0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6BA4CE-8BD2-419E-A270-15A0EFE01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2" name="Text Placeholder 119">
            <a:extLst>
              <a:ext uri="{FF2B5EF4-FFF2-40B4-BE49-F238E27FC236}">
                <a16:creationId xmlns:a16="http://schemas.microsoft.com/office/drawing/2014/main" id="{C0F25050-A2F4-4F04-ACDB-1E6965034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E130FA9-9682-4FC0-84C0-A1E09669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700230"/>
              </p:ext>
            </p:extLst>
          </p:nvPr>
        </p:nvGraphicFramePr>
        <p:xfrm>
          <a:off x="685800" y="2209800"/>
          <a:ext cx="10805160" cy="38404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61032">
                  <a:extLst>
                    <a:ext uri="{9D8B030D-6E8A-4147-A177-3AD203B41FA5}">
                      <a16:colId xmlns:a16="http://schemas.microsoft.com/office/drawing/2014/main" val="3698606507"/>
                    </a:ext>
                  </a:extLst>
                </a:gridCol>
                <a:gridCol w="2161032">
                  <a:extLst>
                    <a:ext uri="{9D8B030D-6E8A-4147-A177-3AD203B41FA5}">
                      <a16:colId xmlns:a16="http://schemas.microsoft.com/office/drawing/2014/main" val="4203379421"/>
                    </a:ext>
                  </a:extLst>
                </a:gridCol>
                <a:gridCol w="2161032">
                  <a:extLst>
                    <a:ext uri="{9D8B030D-6E8A-4147-A177-3AD203B41FA5}">
                      <a16:colId xmlns:a16="http://schemas.microsoft.com/office/drawing/2014/main" val="1923939207"/>
                    </a:ext>
                  </a:extLst>
                </a:gridCol>
                <a:gridCol w="2161032">
                  <a:extLst>
                    <a:ext uri="{9D8B030D-6E8A-4147-A177-3AD203B41FA5}">
                      <a16:colId xmlns:a16="http://schemas.microsoft.com/office/drawing/2014/main" val="4275484518"/>
                    </a:ext>
                  </a:extLst>
                </a:gridCol>
                <a:gridCol w="2161032">
                  <a:extLst>
                    <a:ext uri="{9D8B030D-6E8A-4147-A177-3AD203B41FA5}">
                      <a16:colId xmlns:a16="http://schemas.microsoft.com/office/drawing/2014/main" val="199025764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Title</a:t>
                      </a: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2153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Title</a:t>
                      </a: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81075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Title</a:t>
                      </a: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063967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Title</a:t>
                      </a: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418753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Title</a:t>
                      </a: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956811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Title</a:t>
                      </a:r>
                      <a:endParaRPr kumimoji="0" lang="en-GB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Content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299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089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152902DB-60A1-4BBC-BD80-ABD51351C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4200" y="2590800"/>
            <a:ext cx="2209800" cy="2209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2667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287F1B-3E25-4481-B199-24E6AD18D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/>
          <a:lstStyle/>
          <a:p>
            <a:r>
              <a:rPr lang="en-US" dirty="0"/>
              <a:t>PIE CHART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1D4ADB-79CE-478E-8FBE-53E59DEC9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 Placeholder 119">
            <a:extLst>
              <a:ext uri="{FF2B5EF4-FFF2-40B4-BE49-F238E27FC236}">
                <a16:creationId xmlns:a16="http://schemas.microsoft.com/office/drawing/2014/main" id="{A8F5C4E3-6105-466B-A340-80D73DB22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7" name="Chart 6" descr="chart">
            <a:extLst>
              <a:ext uri="{FF2B5EF4-FFF2-40B4-BE49-F238E27FC236}">
                <a16:creationId xmlns:a16="http://schemas.microsoft.com/office/drawing/2014/main" id="{423F99F7-105E-4F90-AEE5-0ABC1BA8E8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2165816"/>
              </p:ext>
            </p:extLst>
          </p:nvPr>
        </p:nvGraphicFramePr>
        <p:xfrm>
          <a:off x="7543800" y="2133600"/>
          <a:ext cx="3530600" cy="3471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36D8B7C8-55F2-49D9-A8C1-5754C2A7D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1900" y="3238500"/>
            <a:ext cx="914400" cy="914400"/>
          </a:xfrm>
          <a:prstGeom prst="rect">
            <a:avLst/>
          </a:prstGeom>
        </p:spPr>
      </p:pic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5F307770-38D8-49CA-BFD0-64F78C89348C}"/>
              </a:ext>
            </a:extLst>
          </p:cNvPr>
          <p:cNvSpPr txBox="1">
            <a:spLocks/>
          </p:cNvSpPr>
          <p:nvPr/>
        </p:nvSpPr>
        <p:spPr>
          <a:xfrm>
            <a:off x="548641" y="2667000"/>
            <a:ext cx="3261359" cy="2514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Lorem </a:t>
            </a:r>
            <a:r>
              <a:rPr lang="en-US" dirty="0"/>
              <a:t>ipsum dolor sit amet, consectetuer adipiscing elit. Maecenas porttitor congue massa. Fusce posuere, magna sed pulvinar ultricies, purus lectus malesuada libero, sit amet commodo magna eros quis urna.</a:t>
            </a:r>
          </a:p>
        </p:txBody>
      </p:sp>
    </p:spTree>
    <p:extLst>
      <p:ext uri="{BB962C8B-B14F-4D97-AF65-F5344CB8AC3E}">
        <p14:creationId xmlns:p14="http://schemas.microsoft.com/office/powerpoint/2010/main" val="25007347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36</TotalTime>
  <Words>619</Words>
  <Application>Microsoft Office PowerPoint</Application>
  <PresentationFormat>Widescreen</PresentationFormat>
  <Paragraphs>98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Tw Cen MT</vt:lpstr>
      <vt:lpstr>Tw Cen MT Condensed</vt:lpstr>
      <vt:lpstr>Wingdings</vt:lpstr>
      <vt:lpstr>Wingdings 3</vt:lpstr>
      <vt:lpstr>ModernClassicBlock-3</vt:lpstr>
      <vt:lpstr>Prototypical Networks for Few-shot Learning  </vt:lpstr>
      <vt:lpstr>Unique contribution</vt:lpstr>
      <vt:lpstr>PowerPoint Presentation</vt:lpstr>
      <vt:lpstr>Unique contribution</vt:lpstr>
      <vt:lpstr>Dataset  details</vt:lpstr>
      <vt:lpstr>Omniglot</vt:lpstr>
      <vt:lpstr>Dataset details</vt:lpstr>
      <vt:lpstr>COMPANY TEAM SLIDE</vt:lpstr>
      <vt:lpstr>“QUOTE”</vt:lpstr>
      <vt:lpstr>TABLE</vt:lpstr>
      <vt:lpstr>PIE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Prototypical Networks for Few-shot Learning</dc:title>
  <dc:creator>Saka Poopoo</dc:creator>
  <cp:lastModifiedBy>Saka Poopoo</cp:lastModifiedBy>
  <cp:revision>9</cp:revision>
  <dcterms:created xsi:type="dcterms:W3CDTF">2023-09-24T08:38:28Z</dcterms:created>
  <dcterms:modified xsi:type="dcterms:W3CDTF">2023-09-24T09:15:00Z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